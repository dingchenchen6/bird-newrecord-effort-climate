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82880" y="182880"/>
            <a:ext cx="9144000" cy="5852160"/>
            <a:chOff x="182880" y="182880"/>
            <a:chExt cx="9144000" cy="5852160"/>
          </a:xfrm>
        </p:grpSpPr>
        <p:sp>
          <p:nvSpPr>
            <p:cNvPr id="3" name="rc3"/>
            <p:cNvSpPr/>
            <p:nvPr/>
          </p:nvSpPr>
          <p:spPr>
            <a:xfrm>
              <a:off x="182880" y="182880"/>
              <a:ext cx="9144000" cy="5852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2880" y="182880"/>
              <a:ext cx="9143999" cy="585215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52469" y="3762645"/>
              <a:ext cx="9004821" cy="2202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252469" y="477231"/>
              <a:ext cx="4157286" cy="32854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409755" y="477231"/>
              <a:ext cx="4847535" cy="32854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543482" y="710210"/>
              <a:ext cx="2765052" cy="27065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543482" y="3030086"/>
              <a:ext cx="2765052" cy="0"/>
            </a:xfrm>
            <a:custGeom>
              <a:avLst/>
              <a:pathLst>
                <a:path w="2765052" h="0">
                  <a:moveTo>
                    <a:pt x="0" y="0"/>
                  </a:moveTo>
                  <a:lnTo>
                    <a:pt x="2765052" y="0"/>
                  </a:lnTo>
                  <a:lnTo>
                    <a:pt x="27650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543482" y="2385676"/>
              <a:ext cx="2765052" cy="0"/>
            </a:xfrm>
            <a:custGeom>
              <a:avLst/>
              <a:pathLst>
                <a:path w="2765052" h="0">
                  <a:moveTo>
                    <a:pt x="0" y="0"/>
                  </a:moveTo>
                  <a:lnTo>
                    <a:pt x="2765052" y="0"/>
                  </a:lnTo>
                  <a:lnTo>
                    <a:pt x="27650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543482" y="1741266"/>
              <a:ext cx="2765052" cy="0"/>
            </a:xfrm>
            <a:custGeom>
              <a:avLst/>
              <a:pathLst>
                <a:path w="2765052" h="0">
                  <a:moveTo>
                    <a:pt x="0" y="0"/>
                  </a:moveTo>
                  <a:lnTo>
                    <a:pt x="2765052" y="0"/>
                  </a:lnTo>
                  <a:lnTo>
                    <a:pt x="27650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543482" y="1096856"/>
              <a:ext cx="2765052" cy="0"/>
            </a:xfrm>
            <a:custGeom>
              <a:avLst/>
              <a:pathLst>
                <a:path w="2765052" h="0">
                  <a:moveTo>
                    <a:pt x="0" y="0"/>
                  </a:moveTo>
                  <a:lnTo>
                    <a:pt x="2765052" y="0"/>
                  </a:lnTo>
                  <a:lnTo>
                    <a:pt x="27650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354426" y="710210"/>
              <a:ext cx="0" cy="2706522"/>
            </a:xfrm>
            <a:custGeom>
              <a:avLst/>
              <a:pathLst>
                <a:path w="0" h="2706522">
                  <a:moveTo>
                    <a:pt x="0" y="27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73737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160018" y="1195665"/>
              <a:ext cx="0" cy="38664"/>
            </a:xfrm>
            <a:custGeom>
              <a:avLst/>
              <a:pathLst>
                <a:path w="0" h="38664">
                  <a:moveTo>
                    <a:pt x="0" y="3866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689307" y="1214998"/>
              <a:ext cx="470711" cy="0"/>
            </a:xfrm>
            <a:custGeom>
              <a:avLst/>
              <a:pathLst>
                <a:path w="470711" h="0">
                  <a:moveTo>
                    <a:pt x="470711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89307" y="1195665"/>
              <a:ext cx="0" cy="38664"/>
            </a:xfrm>
            <a:custGeom>
              <a:avLst/>
              <a:pathLst>
                <a:path w="0" h="38664">
                  <a:moveTo>
                    <a:pt x="0" y="3866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169056" y="1077524"/>
              <a:ext cx="0" cy="38664"/>
            </a:xfrm>
            <a:custGeom>
              <a:avLst/>
              <a:pathLst>
                <a:path w="0" h="38664">
                  <a:moveTo>
                    <a:pt x="0" y="3866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97210" y="1096856"/>
              <a:ext cx="471846" cy="0"/>
            </a:xfrm>
            <a:custGeom>
              <a:avLst/>
              <a:pathLst>
                <a:path w="471846" h="0">
                  <a:moveTo>
                    <a:pt x="471846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97210" y="1077524"/>
              <a:ext cx="0" cy="38664"/>
            </a:xfrm>
            <a:custGeom>
              <a:avLst/>
              <a:pathLst>
                <a:path w="0" h="38664">
                  <a:moveTo>
                    <a:pt x="0" y="3866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182850" y="959382"/>
              <a:ext cx="0" cy="38664"/>
            </a:xfrm>
            <a:custGeom>
              <a:avLst/>
              <a:pathLst>
                <a:path w="0" h="38664">
                  <a:moveTo>
                    <a:pt x="0" y="3866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710142" y="978714"/>
              <a:ext cx="472708" cy="0"/>
            </a:xfrm>
            <a:custGeom>
              <a:avLst/>
              <a:pathLst>
                <a:path w="472708" h="0">
                  <a:moveTo>
                    <a:pt x="472708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710142" y="959382"/>
              <a:ext cx="0" cy="38664"/>
            </a:xfrm>
            <a:custGeom>
              <a:avLst/>
              <a:pathLst>
                <a:path w="0" h="38664">
                  <a:moveTo>
                    <a:pt x="0" y="3866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560130" y="1840076"/>
              <a:ext cx="0" cy="38664"/>
            </a:xfrm>
            <a:custGeom>
              <a:avLst/>
              <a:pathLst>
                <a:path w="0" h="38664">
                  <a:moveTo>
                    <a:pt x="0" y="3866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947459" y="1859408"/>
              <a:ext cx="612670" cy="0"/>
            </a:xfrm>
            <a:custGeom>
              <a:avLst/>
              <a:pathLst>
                <a:path w="612670" h="0">
                  <a:moveTo>
                    <a:pt x="61267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47459" y="1840076"/>
              <a:ext cx="0" cy="38664"/>
            </a:xfrm>
            <a:custGeom>
              <a:avLst/>
              <a:pathLst>
                <a:path w="0" h="38664">
                  <a:moveTo>
                    <a:pt x="0" y="3866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594005" y="1721934"/>
              <a:ext cx="0" cy="38664"/>
            </a:xfrm>
            <a:custGeom>
              <a:avLst/>
              <a:pathLst>
                <a:path w="0" h="38664">
                  <a:moveTo>
                    <a:pt x="0" y="3866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968262" y="1741266"/>
              <a:ext cx="625742" cy="0"/>
            </a:xfrm>
            <a:custGeom>
              <a:avLst/>
              <a:pathLst>
                <a:path w="625742" h="0">
                  <a:moveTo>
                    <a:pt x="625742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968262" y="1721934"/>
              <a:ext cx="0" cy="38664"/>
            </a:xfrm>
            <a:custGeom>
              <a:avLst/>
              <a:pathLst>
                <a:path w="0" h="38664">
                  <a:moveTo>
                    <a:pt x="0" y="3866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589385" y="1603792"/>
              <a:ext cx="0" cy="38664"/>
            </a:xfrm>
            <a:custGeom>
              <a:avLst/>
              <a:pathLst>
                <a:path w="0" h="38664">
                  <a:moveTo>
                    <a:pt x="0" y="3866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952911" y="1623124"/>
              <a:ext cx="636473" cy="0"/>
            </a:xfrm>
            <a:custGeom>
              <a:avLst/>
              <a:pathLst>
                <a:path w="636473" h="0">
                  <a:moveTo>
                    <a:pt x="636473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952911" y="1603792"/>
              <a:ext cx="0" cy="38664"/>
            </a:xfrm>
            <a:custGeom>
              <a:avLst/>
              <a:pathLst>
                <a:path w="0" h="38664">
                  <a:moveTo>
                    <a:pt x="0" y="3866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132938" y="2484486"/>
              <a:ext cx="0" cy="38664"/>
            </a:xfrm>
            <a:custGeom>
              <a:avLst/>
              <a:pathLst>
                <a:path w="0" h="38664">
                  <a:moveTo>
                    <a:pt x="0" y="3866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673673" y="2503818"/>
              <a:ext cx="459265" cy="0"/>
            </a:xfrm>
            <a:custGeom>
              <a:avLst/>
              <a:pathLst>
                <a:path w="459265" h="0">
                  <a:moveTo>
                    <a:pt x="459265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673673" y="2484486"/>
              <a:ext cx="0" cy="38664"/>
            </a:xfrm>
            <a:custGeom>
              <a:avLst/>
              <a:pathLst>
                <a:path w="0" h="38664">
                  <a:moveTo>
                    <a:pt x="0" y="3866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133746" y="2366344"/>
              <a:ext cx="0" cy="38664"/>
            </a:xfrm>
            <a:custGeom>
              <a:avLst/>
              <a:pathLst>
                <a:path w="0" h="38664">
                  <a:moveTo>
                    <a:pt x="0" y="3866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672196" y="2385676"/>
              <a:ext cx="461549" cy="0"/>
            </a:xfrm>
            <a:custGeom>
              <a:avLst/>
              <a:pathLst>
                <a:path w="461549" h="0">
                  <a:moveTo>
                    <a:pt x="461549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672196" y="2366344"/>
              <a:ext cx="0" cy="38664"/>
            </a:xfrm>
            <a:custGeom>
              <a:avLst/>
              <a:pathLst>
                <a:path w="0" h="38664">
                  <a:moveTo>
                    <a:pt x="0" y="3866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131783" y="2248202"/>
              <a:ext cx="0" cy="38664"/>
            </a:xfrm>
            <a:custGeom>
              <a:avLst/>
              <a:pathLst>
                <a:path w="0" h="38664">
                  <a:moveTo>
                    <a:pt x="0" y="3866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669166" y="2267534"/>
              <a:ext cx="462616" cy="0"/>
            </a:xfrm>
            <a:custGeom>
              <a:avLst/>
              <a:pathLst>
                <a:path w="462616" h="0">
                  <a:moveTo>
                    <a:pt x="462616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669166" y="2248202"/>
              <a:ext cx="0" cy="38664"/>
            </a:xfrm>
            <a:custGeom>
              <a:avLst/>
              <a:pathLst>
                <a:path w="0" h="38664">
                  <a:moveTo>
                    <a:pt x="0" y="3866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231728" y="3128896"/>
              <a:ext cx="0" cy="38664"/>
            </a:xfrm>
            <a:custGeom>
              <a:avLst/>
              <a:pathLst>
                <a:path w="0" h="38664">
                  <a:moveTo>
                    <a:pt x="0" y="3866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1747906" y="3148228"/>
              <a:ext cx="483821" cy="0"/>
            </a:xfrm>
            <a:custGeom>
              <a:avLst/>
              <a:pathLst>
                <a:path w="483821" h="0">
                  <a:moveTo>
                    <a:pt x="483821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1747906" y="3128896"/>
              <a:ext cx="0" cy="38664"/>
            </a:xfrm>
            <a:custGeom>
              <a:avLst/>
              <a:pathLst>
                <a:path w="0" h="38664">
                  <a:moveTo>
                    <a:pt x="0" y="3866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236490" y="3010754"/>
              <a:ext cx="0" cy="38664"/>
            </a:xfrm>
            <a:custGeom>
              <a:avLst/>
              <a:pathLst>
                <a:path w="0" h="38664">
                  <a:moveTo>
                    <a:pt x="0" y="3866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751842" y="3030086"/>
              <a:ext cx="484648" cy="0"/>
            </a:xfrm>
            <a:custGeom>
              <a:avLst/>
              <a:pathLst>
                <a:path w="484648" h="0">
                  <a:moveTo>
                    <a:pt x="484648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751842" y="3010754"/>
              <a:ext cx="0" cy="38664"/>
            </a:xfrm>
            <a:custGeom>
              <a:avLst/>
              <a:pathLst>
                <a:path w="0" h="38664">
                  <a:moveTo>
                    <a:pt x="0" y="3866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234847" y="2892612"/>
              <a:ext cx="0" cy="38664"/>
            </a:xfrm>
            <a:custGeom>
              <a:avLst/>
              <a:pathLst>
                <a:path w="0" h="38664">
                  <a:moveTo>
                    <a:pt x="0" y="3866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750218" y="2911944"/>
              <a:ext cx="484629" cy="0"/>
            </a:xfrm>
            <a:custGeom>
              <a:avLst/>
              <a:pathLst>
                <a:path w="484629" h="0">
                  <a:moveTo>
                    <a:pt x="484629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750218" y="2892612"/>
              <a:ext cx="0" cy="38664"/>
            </a:xfrm>
            <a:custGeom>
              <a:avLst/>
              <a:pathLst>
                <a:path w="0" h="38664">
                  <a:moveTo>
                    <a:pt x="0" y="3866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895235" y="1185570"/>
              <a:ext cx="58856" cy="58856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903705" y="1067428"/>
              <a:ext cx="58856" cy="58856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917068" y="949286"/>
              <a:ext cx="58856" cy="58856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224367" y="1829980"/>
              <a:ext cx="58856" cy="58856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251705" y="1711838"/>
              <a:ext cx="58856" cy="58856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241720" y="1593696"/>
              <a:ext cx="58856" cy="58856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1873878" y="2474390"/>
              <a:ext cx="58856" cy="58856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1873543" y="2356248"/>
              <a:ext cx="58856" cy="58856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1871046" y="2238106"/>
              <a:ext cx="58856" cy="58856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1960389" y="3118800"/>
              <a:ext cx="58856" cy="58856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1964738" y="3000658"/>
              <a:ext cx="58856" cy="58856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1963104" y="2882516"/>
              <a:ext cx="58856" cy="58856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543482" y="710210"/>
              <a:ext cx="0" cy="2706522"/>
            </a:xfrm>
            <a:custGeom>
              <a:avLst/>
              <a:pathLst>
                <a:path w="0" h="2706522">
                  <a:moveTo>
                    <a:pt x="0" y="2706522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tx63"/>
            <p:cNvSpPr/>
            <p:nvPr/>
          </p:nvSpPr>
          <p:spPr>
            <a:xfrm>
              <a:off x="555710" y="2997396"/>
              <a:ext cx="93652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Climate change x effort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87953" y="2352986"/>
              <a:ext cx="1004285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Annual climate variability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64306" y="1708576"/>
              <a:ext cx="927933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Climate change (15-yr)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976700" y="1064166"/>
              <a:ext cx="51553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Survey effort</a:t>
              </a:r>
            </a:p>
          </p:txBody>
        </p:sp>
        <p:sp>
          <p:nvSpPr>
            <p:cNvPr id="67" name="pl67"/>
            <p:cNvSpPr/>
            <p:nvPr/>
          </p:nvSpPr>
          <p:spPr>
            <a:xfrm>
              <a:off x="1515013" y="303008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1515013" y="238567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1515013" y="174126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1515013" y="109685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1543482" y="3416732"/>
              <a:ext cx="2765052" cy="0"/>
            </a:xfrm>
            <a:custGeom>
              <a:avLst/>
              <a:pathLst>
                <a:path w="2765052" h="0">
                  <a:moveTo>
                    <a:pt x="0" y="0"/>
                  </a:moveTo>
                  <a:lnTo>
                    <a:pt x="2765052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1753847" y="3416732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070854" y="3416732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354426" y="3416732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845135" y="3416732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445714" y="3416732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936423" y="3416732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tx78"/>
            <p:cNvSpPr/>
            <p:nvPr/>
          </p:nvSpPr>
          <p:spPr>
            <a:xfrm>
              <a:off x="1690434" y="3467975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007440" y="3467975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0.9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2291013" y="3467975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781721" y="3467975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1.2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3382300" y="3467975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873009" y="3467975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1.8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132172" y="3580934"/>
              <a:ext cx="158767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Hazard ratio per 1 SD (95% CI)</a:t>
              </a:r>
            </a:p>
          </p:txBody>
        </p:sp>
        <p:sp>
          <p:nvSpPr>
            <p:cNvPr id="85" name="rc85"/>
            <p:cNvSpPr/>
            <p:nvPr/>
          </p:nvSpPr>
          <p:spPr>
            <a:xfrm>
              <a:off x="3533696" y="2517992"/>
              <a:ext cx="830762" cy="60661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>
              <a:off x="3590633" y="2585627"/>
              <a:ext cx="71688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SDM threshold</a:t>
              </a:r>
            </a:p>
          </p:txBody>
        </p:sp>
        <p:sp>
          <p:nvSpPr>
            <p:cNvPr id="87" name="rc87"/>
            <p:cNvSpPr/>
            <p:nvPr/>
          </p:nvSpPr>
          <p:spPr>
            <a:xfrm>
              <a:off x="3590633" y="2726048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602020" y="2782984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219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3618141" y="2753556"/>
              <a:ext cx="58856" cy="58856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3590633" y="2839921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602020" y="2896857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2195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3618141" y="2867429"/>
              <a:ext cx="58856" cy="58856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3590633" y="2953794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3602020" y="3010730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2195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618141" y="2981302"/>
              <a:ext cx="58856" cy="58856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tx96"/>
            <p:cNvSpPr/>
            <p:nvPr/>
          </p:nvSpPr>
          <p:spPr>
            <a:xfrm>
              <a:off x="3761442" y="2746591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3761442" y="2860464"/>
              <a:ext cx="16952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3761442" y="2974337"/>
              <a:ext cx="16952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1543482" y="553147"/>
              <a:ext cx="228124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Discrete-time cloglog hazard model; 655 events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331081" y="545561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01" name="rc101"/>
            <p:cNvSpPr/>
            <p:nvPr/>
          </p:nvSpPr>
          <p:spPr>
            <a:xfrm>
              <a:off x="4874059" y="710210"/>
              <a:ext cx="2765052" cy="27065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4874059" y="2714821"/>
              <a:ext cx="2765052" cy="0"/>
            </a:xfrm>
            <a:custGeom>
              <a:avLst/>
              <a:pathLst>
                <a:path w="2765052" h="0">
                  <a:moveTo>
                    <a:pt x="0" y="0"/>
                  </a:moveTo>
                  <a:lnTo>
                    <a:pt x="2765052" y="0"/>
                  </a:lnTo>
                  <a:lnTo>
                    <a:pt x="27650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4874059" y="1990896"/>
              <a:ext cx="2765052" cy="0"/>
            </a:xfrm>
            <a:custGeom>
              <a:avLst/>
              <a:pathLst>
                <a:path w="2765052" h="0">
                  <a:moveTo>
                    <a:pt x="0" y="0"/>
                  </a:moveTo>
                  <a:lnTo>
                    <a:pt x="2765052" y="0"/>
                  </a:lnTo>
                  <a:lnTo>
                    <a:pt x="27650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4874059" y="1266972"/>
              <a:ext cx="2765052" cy="0"/>
            </a:xfrm>
            <a:custGeom>
              <a:avLst/>
              <a:pathLst>
                <a:path w="2765052" h="0">
                  <a:moveTo>
                    <a:pt x="0" y="0"/>
                  </a:moveTo>
                  <a:lnTo>
                    <a:pt x="2765052" y="0"/>
                  </a:lnTo>
                  <a:lnTo>
                    <a:pt x="27650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4999743" y="1962403"/>
              <a:ext cx="1904306" cy="1331305"/>
            </a:xfrm>
            <a:custGeom>
              <a:avLst/>
              <a:pathLst>
                <a:path w="1904306" h="1331305">
                  <a:moveTo>
                    <a:pt x="0" y="1331305"/>
                  </a:moveTo>
                  <a:lnTo>
                    <a:pt x="19043" y="1327897"/>
                  </a:lnTo>
                  <a:lnTo>
                    <a:pt x="38086" y="1324409"/>
                  </a:lnTo>
                  <a:lnTo>
                    <a:pt x="57129" y="1320839"/>
                  </a:lnTo>
                  <a:lnTo>
                    <a:pt x="76172" y="1317186"/>
                  </a:lnTo>
                  <a:lnTo>
                    <a:pt x="95215" y="1313446"/>
                  </a:lnTo>
                  <a:lnTo>
                    <a:pt x="114258" y="1309619"/>
                  </a:lnTo>
                  <a:lnTo>
                    <a:pt x="133301" y="1305702"/>
                  </a:lnTo>
                  <a:lnTo>
                    <a:pt x="152344" y="1301693"/>
                  </a:lnTo>
                  <a:lnTo>
                    <a:pt x="171387" y="1297590"/>
                  </a:lnTo>
                  <a:lnTo>
                    <a:pt x="190430" y="1293390"/>
                  </a:lnTo>
                  <a:lnTo>
                    <a:pt x="209473" y="1289092"/>
                  </a:lnTo>
                  <a:lnTo>
                    <a:pt x="228516" y="1284693"/>
                  </a:lnTo>
                  <a:lnTo>
                    <a:pt x="247559" y="1280190"/>
                  </a:lnTo>
                  <a:lnTo>
                    <a:pt x="266602" y="1275582"/>
                  </a:lnTo>
                  <a:lnTo>
                    <a:pt x="285645" y="1270866"/>
                  </a:lnTo>
                  <a:lnTo>
                    <a:pt x="304689" y="1266039"/>
                  </a:lnTo>
                  <a:lnTo>
                    <a:pt x="323732" y="1261098"/>
                  </a:lnTo>
                  <a:lnTo>
                    <a:pt x="342775" y="1256042"/>
                  </a:lnTo>
                  <a:lnTo>
                    <a:pt x="361818" y="1250866"/>
                  </a:lnTo>
                  <a:lnTo>
                    <a:pt x="380861" y="1245569"/>
                  </a:lnTo>
                  <a:lnTo>
                    <a:pt x="399904" y="1240148"/>
                  </a:lnTo>
                  <a:lnTo>
                    <a:pt x="418947" y="1234600"/>
                  </a:lnTo>
                  <a:lnTo>
                    <a:pt x="437990" y="1228921"/>
                  </a:lnTo>
                  <a:lnTo>
                    <a:pt x="457033" y="1223109"/>
                  </a:lnTo>
                  <a:lnTo>
                    <a:pt x="476076" y="1217161"/>
                  </a:lnTo>
                  <a:lnTo>
                    <a:pt x="495119" y="1211072"/>
                  </a:lnTo>
                  <a:lnTo>
                    <a:pt x="514162" y="1204841"/>
                  </a:lnTo>
                  <a:lnTo>
                    <a:pt x="533205" y="1198464"/>
                  </a:lnTo>
                  <a:lnTo>
                    <a:pt x="552248" y="1191937"/>
                  </a:lnTo>
                  <a:lnTo>
                    <a:pt x="571291" y="1185256"/>
                  </a:lnTo>
                  <a:lnTo>
                    <a:pt x="590334" y="1178419"/>
                  </a:lnTo>
                  <a:lnTo>
                    <a:pt x="609378" y="1171422"/>
                  </a:lnTo>
                  <a:lnTo>
                    <a:pt x="628421" y="1164260"/>
                  </a:lnTo>
                  <a:lnTo>
                    <a:pt x="647464" y="1156930"/>
                  </a:lnTo>
                  <a:lnTo>
                    <a:pt x="666507" y="1149428"/>
                  </a:lnTo>
                  <a:lnTo>
                    <a:pt x="685550" y="1141750"/>
                  </a:lnTo>
                  <a:lnTo>
                    <a:pt x="704593" y="1133891"/>
                  </a:lnTo>
                  <a:lnTo>
                    <a:pt x="723636" y="1125849"/>
                  </a:lnTo>
                  <a:lnTo>
                    <a:pt x="742679" y="1117617"/>
                  </a:lnTo>
                  <a:lnTo>
                    <a:pt x="761722" y="1109192"/>
                  </a:lnTo>
                  <a:lnTo>
                    <a:pt x="780765" y="1100570"/>
                  </a:lnTo>
                  <a:lnTo>
                    <a:pt x="799808" y="1091745"/>
                  </a:lnTo>
                  <a:lnTo>
                    <a:pt x="818851" y="1082714"/>
                  </a:lnTo>
                  <a:lnTo>
                    <a:pt x="837894" y="1073470"/>
                  </a:lnTo>
                  <a:lnTo>
                    <a:pt x="856937" y="1064009"/>
                  </a:lnTo>
                  <a:lnTo>
                    <a:pt x="875980" y="1054327"/>
                  </a:lnTo>
                  <a:lnTo>
                    <a:pt x="895024" y="1044417"/>
                  </a:lnTo>
                  <a:lnTo>
                    <a:pt x="914067" y="1034275"/>
                  </a:lnTo>
                  <a:lnTo>
                    <a:pt x="933110" y="1023895"/>
                  </a:lnTo>
                  <a:lnTo>
                    <a:pt x="952153" y="1013271"/>
                  </a:lnTo>
                  <a:lnTo>
                    <a:pt x="971196" y="1002398"/>
                  </a:lnTo>
                  <a:lnTo>
                    <a:pt x="990239" y="991271"/>
                  </a:lnTo>
                  <a:lnTo>
                    <a:pt x="1009282" y="979882"/>
                  </a:lnTo>
                  <a:lnTo>
                    <a:pt x="1028325" y="968226"/>
                  </a:lnTo>
                  <a:lnTo>
                    <a:pt x="1047368" y="956296"/>
                  </a:lnTo>
                  <a:lnTo>
                    <a:pt x="1066411" y="944087"/>
                  </a:lnTo>
                  <a:lnTo>
                    <a:pt x="1085454" y="931592"/>
                  </a:lnTo>
                  <a:lnTo>
                    <a:pt x="1104497" y="918803"/>
                  </a:lnTo>
                  <a:lnTo>
                    <a:pt x="1123540" y="905715"/>
                  </a:lnTo>
                  <a:lnTo>
                    <a:pt x="1142583" y="892320"/>
                  </a:lnTo>
                  <a:lnTo>
                    <a:pt x="1161626" y="878611"/>
                  </a:lnTo>
                  <a:lnTo>
                    <a:pt x="1180669" y="864580"/>
                  </a:lnTo>
                  <a:lnTo>
                    <a:pt x="1199713" y="850221"/>
                  </a:lnTo>
                  <a:lnTo>
                    <a:pt x="1218756" y="835524"/>
                  </a:lnTo>
                  <a:lnTo>
                    <a:pt x="1237799" y="820484"/>
                  </a:lnTo>
                  <a:lnTo>
                    <a:pt x="1256842" y="805091"/>
                  </a:lnTo>
                  <a:lnTo>
                    <a:pt x="1275885" y="789337"/>
                  </a:lnTo>
                  <a:lnTo>
                    <a:pt x="1294928" y="773214"/>
                  </a:lnTo>
                  <a:lnTo>
                    <a:pt x="1313971" y="756713"/>
                  </a:lnTo>
                  <a:lnTo>
                    <a:pt x="1333014" y="739825"/>
                  </a:lnTo>
                  <a:lnTo>
                    <a:pt x="1352057" y="722542"/>
                  </a:lnTo>
                  <a:lnTo>
                    <a:pt x="1371100" y="704854"/>
                  </a:lnTo>
                  <a:lnTo>
                    <a:pt x="1390143" y="686751"/>
                  </a:lnTo>
                  <a:lnTo>
                    <a:pt x="1409186" y="668225"/>
                  </a:lnTo>
                  <a:lnTo>
                    <a:pt x="1428229" y="649264"/>
                  </a:lnTo>
                  <a:lnTo>
                    <a:pt x="1447272" y="629860"/>
                  </a:lnTo>
                  <a:lnTo>
                    <a:pt x="1466315" y="610000"/>
                  </a:lnTo>
                  <a:lnTo>
                    <a:pt x="1485359" y="589676"/>
                  </a:lnTo>
                  <a:lnTo>
                    <a:pt x="1504402" y="568876"/>
                  </a:lnTo>
                  <a:lnTo>
                    <a:pt x="1523445" y="547589"/>
                  </a:lnTo>
                  <a:lnTo>
                    <a:pt x="1542488" y="525804"/>
                  </a:lnTo>
                  <a:lnTo>
                    <a:pt x="1561531" y="503509"/>
                  </a:lnTo>
                  <a:lnTo>
                    <a:pt x="1580574" y="480691"/>
                  </a:lnTo>
                  <a:lnTo>
                    <a:pt x="1599617" y="457340"/>
                  </a:lnTo>
                  <a:lnTo>
                    <a:pt x="1618660" y="433442"/>
                  </a:lnTo>
                  <a:lnTo>
                    <a:pt x="1637703" y="408986"/>
                  </a:lnTo>
                  <a:lnTo>
                    <a:pt x="1656746" y="383956"/>
                  </a:lnTo>
                  <a:lnTo>
                    <a:pt x="1675789" y="358342"/>
                  </a:lnTo>
                  <a:lnTo>
                    <a:pt x="1694832" y="332128"/>
                  </a:lnTo>
                  <a:lnTo>
                    <a:pt x="1713875" y="305301"/>
                  </a:lnTo>
                  <a:lnTo>
                    <a:pt x="1732918" y="277846"/>
                  </a:lnTo>
                  <a:lnTo>
                    <a:pt x="1751961" y="249750"/>
                  </a:lnTo>
                  <a:lnTo>
                    <a:pt x="1771004" y="220996"/>
                  </a:lnTo>
                  <a:lnTo>
                    <a:pt x="1790048" y="191571"/>
                  </a:lnTo>
                  <a:lnTo>
                    <a:pt x="1809091" y="161457"/>
                  </a:lnTo>
                  <a:lnTo>
                    <a:pt x="1828134" y="130640"/>
                  </a:lnTo>
                  <a:lnTo>
                    <a:pt x="1847177" y="99103"/>
                  </a:lnTo>
                  <a:lnTo>
                    <a:pt x="1866220" y="66828"/>
                  </a:lnTo>
                  <a:lnTo>
                    <a:pt x="1885263" y="33800"/>
                  </a:lnTo>
                  <a:lnTo>
                    <a:pt x="1904306" y="0"/>
                  </a:lnTo>
                </a:path>
              </a:pathLst>
            </a:custGeom>
            <a:ln w="18970" cap="flat">
              <a:solidFill>
                <a:srgbClr val="56B4E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4999743" y="1666136"/>
              <a:ext cx="1904306" cy="1434823"/>
            </a:xfrm>
            <a:custGeom>
              <a:avLst/>
              <a:pathLst>
                <a:path w="1904306" h="1434823">
                  <a:moveTo>
                    <a:pt x="0" y="1434823"/>
                  </a:moveTo>
                  <a:lnTo>
                    <a:pt x="19043" y="1429171"/>
                  </a:lnTo>
                  <a:lnTo>
                    <a:pt x="38086" y="1423424"/>
                  </a:lnTo>
                  <a:lnTo>
                    <a:pt x="57129" y="1417580"/>
                  </a:lnTo>
                  <a:lnTo>
                    <a:pt x="76172" y="1411639"/>
                  </a:lnTo>
                  <a:lnTo>
                    <a:pt x="95215" y="1405599"/>
                  </a:lnTo>
                  <a:lnTo>
                    <a:pt x="114258" y="1399457"/>
                  </a:lnTo>
                  <a:lnTo>
                    <a:pt x="133301" y="1393213"/>
                  </a:lnTo>
                  <a:lnTo>
                    <a:pt x="152344" y="1386865"/>
                  </a:lnTo>
                  <a:lnTo>
                    <a:pt x="171387" y="1380410"/>
                  </a:lnTo>
                  <a:lnTo>
                    <a:pt x="190430" y="1373848"/>
                  </a:lnTo>
                  <a:lnTo>
                    <a:pt x="209473" y="1367176"/>
                  </a:lnTo>
                  <a:lnTo>
                    <a:pt x="228516" y="1360392"/>
                  </a:lnTo>
                  <a:lnTo>
                    <a:pt x="247559" y="1353495"/>
                  </a:lnTo>
                  <a:lnTo>
                    <a:pt x="266602" y="1346482"/>
                  </a:lnTo>
                  <a:lnTo>
                    <a:pt x="285645" y="1339352"/>
                  </a:lnTo>
                  <a:lnTo>
                    <a:pt x="304689" y="1332103"/>
                  </a:lnTo>
                  <a:lnTo>
                    <a:pt x="323732" y="1324733"/>
                  </a:lnTo>
                  <a:lnTo>
                    <a:pt x="342775" y="1317240"/>
                  </a:lnTo>
                  <a:lnTo>
                    <a:pt x="361818" y="1309622"/>
                  </a:lnTo>
                  <a:lnTo>
                    <a:pt x="380861" y="1301876"/>
                  </a:lnTo>
                  <a:lnTo>
                    <a:pt x="399904" y="1294000"/>
                  </a:lnTo>
                  <a:lnTo>
                    <a:pt x="418947" y="1285994"/>
                  </a:lnTo>
                  <a:lnTo>
                    <a:pt x="437990" y="1277853"/>
                  </a:lnTo>
                  <a:lnTo>
                    <a:pt x="457033" y="1269576"/>
                  </a:lnTo>
                  <a:lnTo>
                    <a:pt x="476076" y="1261161"/>
                  </a:lnTo>
                  <a:lnTo>
                    <a:pt x="495119" y="1252605"/>
                  </a:lnTo>
                  <a:lnTo>
                    <a:pt x="514162" y="1243906"/>
                  </a:lnTo>
                  <a:lnTo>
                    <a:pt x="533205" y="1235062"/>
                  </a:lnTo>
                  <a:lnTo>
                    <a:pt x="552248" y="1226071"/>
                  </a:lnTo>
                  <a:lnTo>
                    <a:pt x="571291" y="1216929"/>
                  </a:lnTo>
                  <a:lnTo>
                    <a:pt x="590334" y="1207634"/>
                  </a:lnTo>
                  <a:lnTo>
                    <a:pt x="609378" y="1198184"/>
                  </a:lnTo>
                  <a:lnTo>
                    <a:pt x="628421" y="1188576"/>
                  </a:lnTo>
                  <a:lnTo>
                    <a:pt x="647464" y="1178807"/>
                  </a:lnTo>
                  <a:lnTo>
                    <a:pt x="666507" y="1168876"/>
                  </a:lnTo>
                  <a:lnTo>
                    <a:pt x="685550" y="1158778"/>
                  </a:lnTo>
                  <a:lnTo>
                    <a:pt x="704593" y="1148512"/>
                  </a:lnTo>
                  <a:lnTo>
                    <a:pt x="723636" y="1138074"/>
                  </a:lnTo>
                  <a:lnTo>
                    <a:pt x="742679" y="1127462"/>
                  </a:lnTo>
                  <a:lnTo>
                    <a:pt x="761722" y="1116673"/>
                  </a:lnTo>
                  <a:lnTo>
                    <a:pt x="780765" y="1105704"/>
                  </a:lnTo>
                  <a:lnTo>
                    <a:pt x="799808" y="1094551"/>
                  </a:lnTo>
                  <a:lnTo>
                    <a:pt x="818851" y="1083212"/>
                  </a:lnTo>
                  <a:lnTo>
                    <a:pt x="837894" y="1071684"/>
                  </a:lnTo>
                  <a:lnTo>
                    <a:pt x="856937" y="1059963"/>
                  </a:lnTo>
                  <a:lnTo>
                    <a:pt x="875980" y="1048047"/>
                  </a:lnTo>
                  <a:lnTo>
                    <a:pt x="895024" y="1035931"/>
                  </a:lnTo>
                  <a:lnTo>
                    <a:pt x="914067" y="1023614"/>
                  </a:lnTo>
                  <a:lnTo>
                    <a:pt x="933110" y="1011091"/>
                  </a:lnTo>
                  <a:lnTo>
                    <a:pt x="952153" y="998358"/>
                  </a:lnTo>
                  <a:lnTo>
                    <a:pt x="971196" y="985414"/>
                  </a:lnTo>
                  <a:lnTo>
                    <a:pt x="990239" y="972253"/>
                  </a:lnTo>
                  <a:lnTo>
                    <a:pt x="1009282" y="958872"/>
                  </a:lnTo>
                  <a:lnTo>
                    <a:pt x="1028325" y="945268"/>
                  </a:lnTo>
                  <a:lnTo>
                    <a:pt x="1047368" y="931437"/>
                  </a:lnTo>
                  <a:lnTo>
                    <a:pt x="1066411" y="917376"/>
                  </a:lnTo>
                  <a:lnTo>
                    <a:pt x="1085454" y="903079"/>
                  </a:lnTo>
                  <a:lnTo>
                    <a:pt x="1104497" y="888545"/>
                  </a:lnTo>
                  <a:lnTo>
                    <a:pt x="1123540" y="873767"/>
                  </a:lnTo>
                  <a:lnTo>
                    <a:pt x="1142583" y="858743"/>
                  </a:lnTo>
                  <a:lnTo>
                    <a:pt x="1161626" y="843469"/>
                  </a:lnTo>
                  <a:lnTo>
                    <a:pt x="1180669" y="827939"/>
                  </a:lnTo>
                  <a:lnTo>
                    <a:pt x="1199713" y="812151"/>
                  </a:lnTo>
                  <a:lnTo>
                    <a:pt x="1218756" y="796099"/>
                  </a:lnTo>
                  <a:lnTo>
                    <a:pt x="1237799" y="779780"/>
                  </a:lnTo>
                  <a:lnTo>
                    <a:pt x="1256842" y="763188"/>
                  </a:lnTo>
                  <a:lnTo>
                    <a:pt x="1275885" y="746320"/>
                  </a:lnTo>
                  <a:lnTo>
                    <a:pt x="1294928" y="729171"/>
                  </a:lnTo>
                  <a:lnTo>
                    <a:pt x="1313971" y="711735"/>
                  </a:lnTo>
                  <a:lnTo>
                    <a:pt x="1333014" y="694009"/>
                  </a:lnTo>
                  <a:lnTo>
                    <a:pt x="1352057" y="675987"/>
                  </a:lnTo>
                  <a:lnTo>
                    <a:pt x="1371100" y="657665"/>
                  </a:lnTo>
                  <a:lnTo>
                    <a:pt x="1390143" y="639038"/>
                  </a:lnTo>
                  <a:lnTo>
                    <a:pt x="1409186" y="620100"/>
                  </a:lnTo>
                  <a:lnTo>
                    <a:pt x="1428229" y="600846"/>
                  </a:lnTo>
                  <a:lnTo>
                    <a:pt x="1447272" y="581272"/>
                  </a:lnTo>
                  <a:lnTo>
                    <a:pt x="1466315" y="561372"/>
                  </a:lnTo>
                  <a:lnTo>
                    <a:pt x="1485359" y="541139"/>
                  </a:lnTo>
                  <a:lnTo>
                    <a:pt x="1504402" y="520570"/>
                  </a:lnTo>
                  <a:lnTo>
                    <a:pt x="1523445" y="499658"/>
                  </a:lnTo>
                  <a:lnTo>
                    <a:pt x="1542488" y="478398"/>
                  </a:lnTo>
                  <a:lnTo>
                    <a:pt x="1561531" y="456784"/>
                  </a:lnTo>
                  <a:lnTo>
                    <a:pt x="1580574" y="434810"/>
                  </a:lnTo>
                  <a:lnTo>
                    <a:pt x="1599617" y="412470"/>
                  </a:lnTo>
                  <a:lnTo>
                    <a:pt x="1618660" y="389757"/>
                  </a:lnTo>
                  <a:lnTo>
                    <a:pt x="1637703" y="366667"/>
                  </a:lnTo>
                  <a:lnTo>
                    <a:pt x="1656746" y="343192"/>
                  </a:lnTo>
                  <a:lnTo>
                    <a:pt x="1675789" y="319327"/>
                  </a:lnTo>
                  <a:lnTo>
                    <a:pt x="1694832" y="295064"/>
                  </a:lnTo>
                  <a:lnTo>
                    <a:pt x="1713875" y="270398"/>
                  </a:lnTo>
                  <a:lnTo>
                    <a:pt x="1732918" y="245321"/>
                  </a:lnTo>
                  <a:lnTo>
                    <a:pt x="1751961" y="219827"/>
                  </a:lnTo>
                  <a:lnTo>
                    <a:pt x="1771004" y="193908"/>
                  </a:lnTo>
                  <a:lnTo>
                    <a:pt x="1790048" y="167559"/>
                  </a:lnTo>
                  <a:lnTo>
                    <a:pt x="1809091" y="140771"/>
                  </a:lnTo>
                  <a:lnTo>
                    <a:pt x="1828134" y="113537"/>
                  </a:lnTo>
                  <a:lnTo>
                    <a:pt x="1847177" y="85851"/>
                  </a:lnTo>
                  <a:lnTo>
                    <a:pt x="1866220" y="57704"/>
                  </a:lnTo>
                  <a:lnTo>
                    <a:pt x="1885263" y="29090"/>
                  </a:lnTo>
                  <a:lnTo>
                    <a:pt x="1904306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4999743" y="1310678"/>
              <a:ext cx="1904306" cy="1341793"/>
            </a:xfrm>
            <a:custGeom>
              <a:avLst/>
              <a:pathLst>
                <a:path w="1904306" h="1341793">
                  <a:moveTo>
                    <a:pt x="0" y="1341793"/>
                  </a:moveTo>
                  <a:lnTo>
                    <a:pt x="19043" y="1333916"/>
                  </a:lnTo>
                  <a:lnTo>
                    <a:pt x="38086" y="1325961"/>
                  </a:lnTo>
                  <a:lnTo>
                    <a:pt x="57129" y="1317925"/>
                  </a:lnTo>
                  <a:lnTo>
                    <a:pt x="76172" y="1309810"/>
                  </a:lnTo>
                  <a:lnTo>
                    <a:pt x="95215" y="1301613"/>
                  </a:lnTo>
                  <a:lnTo>
                    <a:pt x="114258" y="1293334"/>
                  </a:lnTo>
                  <a:lnTo>
                    <a:pt x="133301" y="1284973"/>
                  </a:lnTo>
                  <a:lnTo>
                    <a:pt x="152344" y="1276527"/>
                  </a:lnTo>
                  <a:lnTo>
                    <a:pt x="171387" y="1267998"/>
                  </a:lnTo>
                  <a:lnTo>
                    <a:pt x="190430" y="1259383"/>
                  </a:lnTo>
                  <a:lnTo>
                    <a:pt x="209473" y="1250682"/>
                  </a:lnTo>
                  <a:lnTo>
                    <a:pt x="228516" y="1241894"/>
                  </a:lnTo>
                  <a:lnTo>
                    <a:pt x="247559" y="1233018"/>
                  </a:lnTo>
                  <a:lnTo>
                    <a:pt x="266602" y="1224053"/>
                  </a:lnTo>
                  <a:lnTo>
                    <a:pt x="285645" y="1214999"/>
                  </a:lnTo>
                  <a:lnTo>
                    <a:pt x="304689" y="1205854"/>
                  </a:lnTo>
                  <a:lnTo>
                    <a:pt x="323732" y="1196618"/>
                  </a:lnTo>
                  <a:lnTo>
                    <a:pt x="342775" y="1187290"/>
                  </a:lnTo>
                  <a:lnTo>
                    <a:pt x="361818" y="1177868"/>
                  </a:lnTo>
                  <a:lnTo>
                    <a:pt x="380861" y="1168352"/>
                  </a:lnTo>
                  <a:lnTo>
                    <a:pt x="399904" y="1158741"/>
                  </a:lnTo>
                  <a:lnTo>
                    <a:pt x="418947" y="1149034"/>
                  </a:lnTo>
                  <a:lnTo>
                    <a:pt x="437990" y="1139230"/>
                  </a:lnTo>
                  <a:lnTo>
                    <a:pt x="457033" y="1129328"/>
                  </a:lnTo>
                  <a:lnTo>
                    <a:pt x="476076" y="1119327"/>
                  </a:lnTo>
                  <a:lnTo>
                    <a:pt x="495119" y="1109226"/>
                  </a:lnTo>
                  <a:lnTo>
                    <a:pt x="514162" y="1099024"/>
                  </a:lnTo>
                  <a:lnTo>
                    <a:pt x="533205" y="1088721"/>
                  </a:lnTo>
                  <a:lnTo>
                    <a:pt x="552248" y="1078314"/>
                  </a:lnTo>
                  <a:lnTo>
                    <a:pt x="571291" y="1067803"/>
                  </a:lnTo>
                  <a:lnTo>
                    <a:pt x="590334" y="1057188"/>
                  </a:lnTo>
                  <a:lnTo>
                    <a:pt x="609378" y="1046466"/>
                  </a:lnTo>
                  <a:lnTo>
                    <a:pt x="628421" y="1035637"/>
                  </a:lnTo>
                  <a:lnTo>
                    <a:pt x="647464" y="1024700"/>
                  </a:lnTo>
                  <a:lnTo>
                    <a:pt x="666507" y="1013654"/>
                  </a:lnTo>
                  <a:lnTo>
                    <a:pt x="685550" y="1002497"/>
                  </a:lnTo>
                  <a:lnTo>
                    <a:pt x="704593" y="991229"/>
                  </a:lnTo>
                  <a:lnTo>
                    <a:pt x="723636" y="979849"/>
                  </a:lnTo>
                  <a:lnTo>
                    <a:pt x="742679" y="968354"/>
                  </a:lnTo>
                  <a:lnTo>
                    <a:pt x="761722" y="956745"/>
                  </a:lnTo>
                  <a:lnTo>
                    <a:pt x="780765" y="945021"/>
                  </a:lnTo>
                  <a:lnTo>
                    <a:pt x="799808" y="933179"/>
                  </a:lnTo>
                  <a:lnTo>
                    <a:pt x="818851" y="921218"/>
                  </a:lnTo>
                  <a:lnTo>
                    <a:pt x="837894" y="909139"/>
                  </a:lnTo>
                  <a:lnTo>
                    <a:pt x="856937" y="896939"/>
                  </a:lnTo>
                  <a:lnTo>
                    <a:pt x="875980" y="884617"/>
                  </a:lnTo>
                  <a:lnTo>
                    <a:pt x="895024" y="872172"/>
                  </a:lnTo>
                  <a:lnTo>
                    <a:pt x="914067" y="859602"/>
                  </a:lnTo>
                  <a:lnTo>
                    <a:pt x="933110" y="846908"/>
                  </a:lnTo>
                  <a:lnTo>
                    <a:pt x="952153" y="834086"/>
                  </a:lnTo>
                  <a:lnTo>
                    <a:pt x="971196" y="821137"/>
                  </a:lnTo>
                  <a:lnTo>
                    <a:pt x="990239" y="808058"/>
                  </a:lnTo>
                  <a:lnTo>
                    <a:pt x="1009282" y="794849"/>
                  </a:lnTo>
                  <a:lnTo>
                    <a:pt x="1028325" y="781508"/>
                  </a:lnTo>
                  <a:lnTo>
                    <a:pt x="1047368" y="768034"/>
                  </a:lnTo>
                  <a:lnTo>
                    <a:pt x="1066411" y="754426"/>
                  </a:lnTo>
                  <a:lnTo>
                    <a:pt x="1085454" y="740682"/>
                  </a:lnTo>
                  <a:lnTo>
                    <a:pt x="1104497" y="726800"/>
                  </a:lnTo>
                  <a:lnTo>
                    <a:pt x="1123540" y="712780"/>
                  </a:lnTo>
                  <a:lnTo>
                    <a:pt x="1142583" y="698621"/>
                  </a:lnTo>
                  <a:lnTo>
                    <a:pt x="1161626" y="684320"/>
                  </a:lnTo>
                  <a:lnTo>
                    <a:pt x="1180669" y="669876"/>
                  </a:lnTo>
                  <a:lnTo>
                    <a:pt x="1199713" y="655289"/>
                  </a:lnTo>
                  <a:lnTo>
                    <a:pt x="1218756" y="640555"/>
                  </a:lnTo>
                  <a:lnTo>
                    <a:pt x="1237799" y="625675"/>
                  </a:lnTo>
                  <a:lnTo>
                    <a:pt x="1256842" y="610647"/>
                  </a:lnTo>
                  <a:lnTo>
                    <a:pt x="1275885" y="595469"/>
                  </a:lnTo>
                  <a:lnTo>
                    <a:pt x="1294928" y="580139"/>
                  </a:lnTo>
                  <a:lnTo>
                    <a:pt x="1313971" y="564657"/>
                  </a:lnTo>
                  <a:lnTo>
                    <a:pt x="1333014" y="549020"/>
                  </a:lnTo>
                  <a:lnTo>
                    <a:pt x="1352057" y="533227"/>
                  </a:lnTo>
                  <a:lnTo>
                    <a:pt x="1371100" y="517277"/>
                  </a:lnTo>
                  <a:lnTo>
                    <a:pt x="1390143" y="501168"/>
                  </a:lnTo>
                  <a:lnTo>
                    <a:pt x="1409186" y="484899"/>
                  </a:lnTo>
                  <a:lnTo>
                    <a:pt x="1428229" y="468467"/>
                  </a:lnTo>
                  <a:lnTo>
                    <a:pt x="1447272" y="451872"/>
                  </a:lnTo>
                  <a:lnTo>
                    <a:pt x="1466315" y="435111"/>
                  </a:lnTo>
                  <a:lnTo>
                    <a:pt x="1485359" y="418183"/>
                  </a:lnTo>
                  <a:lnTo>
                    <a:pt x="1504402" y="401086"/>
                  </a:lnTo>
                  <a:lnTo>
                    <a:pt x="1523445" y="383820"/>
                  </a:lnTo>
                  <a:lnTo>
                    <a:pt x="1542488" y="366381"/>
                  </a:lnTo>
                  <a:lnTo>
                    <a:pt x="1561531" y="348768"/>
                  </a:lnTo>
                  <a:lnTo>
                    <a:pt x="1580574" y="330981"/>
                  </a:lnTo>
                  <a:lnTo>
                    <a:pt x="1599617" y="313015"/>
                  </a:lnTo>
                  <a:lnTo>
                    <a:pt x="1618660" y="294871"/>
                  </a:lnTo>
                  <a:lnTo>
                    <a:pt x="1637703" y="276547"/>
                  </a:lnTo>
                  <a:lnTo>
                    <a:pt x="1656746" y="258040"/>
                  </a:lnTo>
                  <a:lnTo>
                    <a:pt x="1675789" y="239348"/>
                  </a:lnTo>
                  <a:lnTo>
                    <a:pt x="1694832" y="220471"/>
                  </a:lnTo>
                  <a:lnTo>
                    <a:pt x="1713875" y="201406"/>
                  </a:lnTo>
                  <a:lnTo>
                    <a:pt x="1732918" y="182151"/>
                  </a:lnTo>
                  <a:lnTo>
                    <a:pt x="1751961" y="162704"/>
                  </a:lnTo>
                  <a:lnTo>
                    <a:pt x="1771004" y="143063"/>
                  </a:lnTo>
                  <a:lnTo>
                    <a:pt x="1790048" y="123228"/>
                  </a:lnTo>
                  <a:lnTo>
                    <a:pt x="1809091" y="103195"/>
                  </a:lnTo>
                  <a:lnTo>
                    <a:pt x="1828134" y="82962"/>
                  </a:lnTo>
                  <a:lnTo>
                    <a:pt x="1847177" y="62528"/>
                  </a:lnTo>
                  <a:lnTo>
                    <a:pt x="1866220" y="41891"/>
                  </a:lnTo>
                  <a:lnTo>
                    <a:pt x="1885263" y="21049"/>
                  </a:lnTo>
                  <a:lnTo>
                    <a:pt x="1904306" y="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4999743" y="884322"/>
              <a:ext cx="1904306" cy="726455"/>
            </a:xfrm>
            <a:custGeom>
              <a:avLst/>
              <a:pathLst>
                <a:path w="1904306" h="726455">
                  <a:moveTo>
                    <a:pt x="0" y="726455"/>
                  </a:moveTo>
                  <a:lnTo>
                    <a:pt x="19043" y="720324"/>
                  </a:lnTo>
                  <a:lnTo>
                    <a:pt x="38086" y="714172"/>
                  </a:lnTo>
                  <a:lnTo>
                    <a:pt x="57129" y="707999"/>
                  </a:lnTo>
                  <a:lnTo>
                    <a:pt x="76172" y="701806"/>
                  </a:lnTo>
                  <a:lnTo>
                    <a:pt x="95215" y="695593"/>
                  </a:lnTo>
                  <a:lnTo>
                    <a:pt x="114258" y="689358"/>
                  </a:lnTo>
                  <a:lnTo>
                    <a:pt x="133301" y="683103"/>
                  </a:lnTo>
                  <a:lnTo>
                    <a:pt x="152344" y="676826"/>
                  </a:lnTo>
                  <a:lnTo>
                    <a:pt x="171387" y="670529"/>
                  </a:lnTo>
                  <a:lnTo>
                    <a:pt x="190430" y="664211"/>
                  </a:lnTo>
                  <a:lnTo>
                    <a:pt x="209473" y="657872"/>
                  </a:lnTo>
                  <a:lnTo>
                    <a:pt x="228516" y="651511"/>
                  </a:lnTo>
                  <a:lnTo>
                    <a:pt x="247559" y="645129"/>
                  </a:lnTo>
                  <a:lnTo>
                    <a:pt x="266602" y="638726"/>
                  </a:lnTo>
                  <a:lnTo>
                    <a:pt x="285645" y="632302"/>
                  </a:lnTo>
                  <a:lnTo>
                    <a:pt x="304689" y="625856"/>
                  </a:lnTo>
                  <a:lnTo>
                    <a:pt x="323732" y="619388"/>
                  </a:lnTo>
                  <a:lnTo>
                    <a:pt x="342775" y="612899"/>
                  </a:lnTo>
                  <a:lnTo>
                    <a:pt x="361818" y="606389"/>
                  </a:lnTo>
                  <a:lnTo>
                    <a:pt x="380861" y="599856"/>
                  </a:lnTo>
                  <a:lnTo>
                    <a:pt x="399904" y="593302"/>
                  </a:lnTo>
                  <a:lnTo>
                    <a:pt x="418947" y="586726"/>
                  </a:lnTo>
                  <a:lnTo>
                    <a:pt x="437990" y="580128"/>
                  </a:lnTo>
                  <a:lnTo>
                    <a:pt x="457033" y="573507"/>
                  </a:lnTo>
                  <a:lnTo>
                    <a:pt x="476076" y="566865"/>
                  </a:lnTo>
                  <a:lnTo>
                    <a:pt x="495119" y="560201"/>
                  </a:lnTo>
                  <a:lnTo>
                    <a:pt x="514162" y="553514"/>
                  </a:lnTo>
                  <a:lnTo>
                    <a:pt x="533205" y="546805"/>
                  </a:lnTo>
                  <a:lnTo>
                    <a:pt x="552248" y="540074"/>
                  </a:lnTo>
                  <a:lnTo>
                    <a:pt x="571291" y="533320"/>
                  </a:lnTo>
                  <a:lnTo>
                    <a:pt x="590334" y="526543"/>
                  </a:lnTo>
                  <a:lnTo>
                    <a:pt x="609378" y="519744"/>
                  </a:lnTo>
                  <a:lnTo>
                    <a:pt x="628421" y="512922"/>
                  </a:lnTo>
                  <a:lnTo>
                    <a:pt x="647464" y="506078"/>
                  </a:lnTo>
                  <a:lnTo>
                    <a:pt x="666507" y="499210"/>
                  </a:lnTo>
                  <a:lnTo>
                    <a:pt x="685550" y="492320"/>
                  </a:lnTo>
                  <a:lnTo>
                    <a:pt x="704593" y="485407"/>
                  </a:lnTo>
                  <a:lnTo>
                    <a:pt x="723636" y="478470"/>
                  </a:lnTo>
                  <a:lnTo>
                    <a:pt x="742679" y="471511"/>
                  </a:lnTo>
                  <a:lnTo>
                    <a:pt x="761722" y="464528"/>
                  </a:lnTo>
                  <a:lnTo>
                    <a:pt x="780765" y="457522"/>
                  </a:lnTo>
                  <a:lnTo>
                    <a:pt x="799808" y="450492"/>
                  </a:lnTo>
                  <a:lnTo>
                    <a:pt x="818851" y="443439"/>
                  </a:lnTo>
                  <a:lnTo>
                    <a:pt x="837894" y="436363"/>
                  </a:lnTo>
                  <a:lnTo>
                    <a:pt x="856937" y="429263"/>
                  </a:lnTo>
                  <a:lnTo>
                    <a:pt x="875980" y="422139"/>
                  </a:lnTo>
                  <a:lnTo>
                    <a:pt x="895024" y="414991"/>
                  </a:lnTo>
                  <a:lnTo>
                    <a:pt x="914067" y="407820"/>
                  </a:lnTo>
                  <a:lnTo>
                    <a:pt x="933110" y="400625"/>
                  </a:lnTo>
                  <a:lnTo>
                    <a:pt x="952153" y="393405"/>
                  </a:lnTo>
                  <a:lnTo>
                    <a:pt x="971196" y="386162"/>
                  </a:lnTo>
                  <a:lnTo>
                    <a:pt x="990239" y="378894"/>
                  </a:lnTo>
                  <a:lnTo>
                    <a:pt x="1009282" y="371602"/>
                  </a:lnTo>
                  <a:lnTo>
                    <a:pt x="1028325" y="364286"/>
                  </a:lnTo>
                  <a:lnTo>
                    <a:pt x="1047368" y="356946"/>
                  </a:lnTo>
                  <a:lnTo>
                    <a:pt x="1066411" y="349581"/>
                  </a:lnTo>
                  <a:lnTo>
                    <a:pt x="1085454" y="342191"/>
                  </a:lnTo>
                  <a:lnTo>
                    <a:pt x="1104497" y="334777"/>
                  </a:lnTo>
                  <a:lnTo>
                    <a:pt x="1123540" y="327338"/>
                  </a:lnTo>
                  <a:lnTo>
                    <a:pt x="1142583" y="319874"/>
                  </a:lnTo>
                  <a:lnTo>
                    <a:pt x="1161626" y="312385"/>
                  </a:lnTo>
                  <a:lnTo>
                    <a:pt x="1180669" y="304871"/>
                  </a:lnTo>
                  <a:lnTo>
                    <a:pt x="1199713" y="297332"/>
                  </a:lnTo>
                  <a:lnTo>
                    <a:pt x="1218756" y="289769"/>
                  </a:lnTo>
                  <a:lnTo>
                    <a:pt x="1237799" y="282179"/>
                  </a:lnTo>
                  <a:lnTo>
                    <a:pt x="1256842" y="274565"/>
                  </a:lnTo>
                  <a:lnTo>
                    <a:pt x="1275885" y="266925"/>
                  </a:lnTo>
                  <a:lnTo>
                    <a:pt x="1294928" y="259260"/>
                  </a:lnTo>
                  <a:lnTo>
                    <a:pt x="1313971" y="251569"/>
                  </a:lnTo>
                  <a:lnTo>
                    <a:pt x="1333014" y="243852"/>
                  </a:lnTo>
                  <a:lnTo>
                    <a:pt x="1352057" y="236110"/>
                  </a:lnTo>
                  <a:lnTo>
                    <a:pt x="1371100" y="228342"/>
                  </a:lnTo>
                  <a:lnTo>
                    <a:pt x="1390143" y="220548"/>
                  </a:lnTo>
                  <a:lnTo>
                    <a:pt x="1409186" y="212728"/>
                  </a:lnTo>
                  <a:lnTo>
                    <a:pt x="1428229" y="204882"/>
                  </a:lnTo>
                  <a:lnTo>
                    <a:pt x="1447272" y="197009"/>
                  </a:lnTo>
                  <a:lnTo>
                    <a:pt x="1466315" y="189111"/>
                  </a:lnTo>
                  <a:lnTo>
                    <a:pt x="1485359" y="181186"/>
                  </a:lnTo>
                  <a:lnTo>
                    <a:pt x="1504402" y="173235"/>
                  </a:lnTo>
                  <a:lnTo>
                    <a:pt x="1523445" y="165257"/>
                  </a:lnTo>
                  <a:lnTo>
                    <a:pt x="1542488" y="157253"/>
                  </a:lnTo>
                  <a:lnTo>
                    <a:pt x="1561531" y="149222"/>
                  </a:lnTo>
                  <a:lnTo>
                    <a:pt x="1580574" y="141164"/>
                  </a:lnTo>
                  <a:lnTo>
                    <a:pt x="1599617" y="133079"/>
                  </a:lnTo>
                  <a:lnTo>
                    <a:pt x="1618660" y="124968"/>
                  </a:lnTo>
                  <a:lnTo>
                    <a:pt x="1637703" y="116829"/>
                  </a:lnTo>
                  <a:lnTo>
                    <a:pt x="1656746" y="108664"/>
                  </a:lnTo>
                  <a:lnTo>
                    <a:pt x="1675789" y="100471"/>
                  </a:lnTo>
                  <a:lnTo>
                    <a:pt x="1694832" y="92250"/>
                  </a:lnTo>
                  <a:lnTo>
                    <a:pt x="1713875" y="84003"/>
                  </a:lnTo>
                  <a:lnTo>
                    <a:pt x="1732918" y="75728"/>
                  </a:lnTo>
                  <a:lnTo>
                    <a:pt x="1751961" y="67425"/>
                  </a:lnTo>
                  <a:lnTo>
                    <a:pt x="1771004" y="59094"/>
                  </a:lnTo>
                  <a:lnTo>
                    <a:pt x="1790048" y="50736"/>
                  </a:lnTo>
                  <a:lnTo>
                    <a:pt x="1809091" y="42350"/>
                  </a:lnTo>
                  <a:lnTo>
                    <a:pt x="1828134" y="33936"/>
                  </a:lnTo>
                  <a:lnTo>
                    <a:pt x="1847177" y="25494"/>
                  </a:lnTo>
                  <a:lnTo>
                    <a:pt x="1866220" y="17024"/>
                  </a:lnTo>
                  <a:lnTo>
                    <a:pt x="1885263" y="8526"/>
                  </a:lnTo>
                  <a:lnTo>
                    <a:pt x="1904306" y="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tx109"/>
            <p:cNvSpPr/>
            <p:nvPr/>
          </p:nvSpPr>
          <p:spPr>
            <a:xfrm>
              <a:off x="6931131" y="1930079"/>
              <a:ext cx="451347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56B4E9">
                      <a:alpha val="100000"/>
                    </a:srgbClr>
                  </a:solidFill>
                  <a:latin typeface="Arial"/>
                  <a:cs typeface="Arial"/>
                </a:rPr>
                <a:t>-1 SD (low)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6917596" y="1633812"/>
              <a:ext cx="225765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0072B2">
                      <a:alpha val="100000"/>
                    </a:srgbClr>
                  </a:solidFill>
                  <a:latin typeface="Arial"/>
                  <a:cs typeface="Arial"/>
                </a:rPr>
                <a:t>Mean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6919247" y="1278354"/>
              <a:ext cx="253288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E69F00">
                      <a:alpha val="100000"/>
                    </a:srgbClr>
                  </a:solidFill>
                  <a:latin typeface="Arial"/>
                  <a:cs typeface="Arial"/>
                </a:rPr>
                <a:t>+1 SD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6934598" y="851998"/>
              <a:ext cx="509137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D55E00">
                      <a:alpha val="100000"/>
                    </a:srgbClr>
                  </a:solidFill>
                  <a:latin typeface="Arial"/>
                  <a:cs typeface="Arial"/>
                </a:rPr>
                <a:t>+2 SD (high)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4999743" y="800910"/>
              <a:ext cx="510052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Survey effort</a:t>
              </a:r>
            </a:p>
          </p:txBody>
        </p:sp>
        <p:sp>
          <p:nvSpPr>
            <p:cNvPr id="114" name="pl114"/>
            <p:cNvSpPr/>
            <p:nvPr/>
          </p:nvSpPr>
          <p:spPr>
            <a:xfrm>
              <a:off x="4874059" y="710210"/>
              <a:ext cx="0" cy="2706522"/>
            </a:xfrm>
            <a:custGeom>
              <a:avLst/>
              <a:pathLst>
                <a:path w="0" h="2706522">
                  <a:moveTo>
                    <a:pt x="0" y="2706522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tx115"/>
            <p:cNvSpPr/>
            <p:nvPr/>
          </p:nvSpPr>
          <p:spPr>
            <a:xfrm>
              <a:off x="4645240" y="2682131"/>
              <a:ext cx="17757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0.30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4645240" y="1958207"/>
              <a:ext cx="17757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0.60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4645240" y="1234282"/>
              <a:ext cx="17757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0.90</a:t>
              </a:r>
            </a:p>
          </p:txBody>
        </p:sp>
        <p:sp>
          <p:nvSpPr>
            <p:cNvPr id="118" name="pl118"/>
            <p:cNvSpPr/>
            <p:nvPr/>
          </p:nvSpPr>
          <p:spPr>
            <a:xfrm>
              <a:off x="4845591" y="2714821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4845591" y="199089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4845591" y="1266972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4874059" y="3416732"/>
              <a:ext cx="2765052" cy="0"/>
            </a:xfrm>
            <a:custGeom>
              <a:avLst/>
              <a:pathLst>
                <a:path w="2765052" h="0">
                  <a:moveTo>
                    <a:pt x="0" y="0"/>
                  </a:moveTo>
                  <a:lnTo>
                    <a:pt x="2765052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4999743" y="3416732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380605" y="3416732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5761466" y="3416732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142327" y="3416732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6523188" y="3416732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6904050" y="3416732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tx128"/>
            <p:cNvSpPr/>
            <p:nvPr/>
          </p:nvSpPr>
          <p:spPr>
            <a:xfrm>
              <a:off x="4959190" y="3467975"/>
              <a:ext cx="8110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5340051" y="3467975"/>
              <a:ext cx="8110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5736091" y="3467975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6116953" y="3467975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6497814" y="3467975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6878675" y="3467975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5392752" y="3580934"/>
              <a:ext cx="1727667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Accumulated climate change (SD)</a:t>
              </a:r>
            </a:p>
          </p:txBody>
        </p:sp>
        <p:sp>
          <p:nvSpPr>
            <p:cNvPr id="135" name="tx135"/>
            <p:cNvSpPr/>
            <p:nvPr/>
          </p:nvSpPr>
          <p:spPr>
            <a:xfrm rot="-5400000">
              <a:off x="3669042" y="2022552"/>
              <a:ext cx="1765706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Annual hazard of a new record (%)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4874059" y="553147"/>
              <a:ext cx="245114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Climate effect is steepest where survey effort is low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4487658" y="545561"/>
              <a:ext cx="9308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38" name="rc138"/>
            <p:cNvSpPr/>
            <p:nvPr/>
          </p:nvSpPr>
          <p:spPr>
            <a:xfrm>
              <a:off x="1543482" y="3995624"/>
              <a:ext cx="6095630" cy="16239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1543482" y="5619537"/>
              <a:ext cx="6095630" cy="0"/>
            </a:xfrm>
            <a:custGeom>
              <a:avLst/>
              <a:pathLst>
                <a:path w="6095630" h="0">
                  <a:moveTo>
                    <a:pt x="0" y="0"/>
                  </a:moveTo>
                  <a:lnTo>
                    <a:pt x="6095630" y="0"/>
                  </a:lnTo>
                  <a:lnTo>
                    <a:pt x="609563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1543482" y="5247285"/>
              <a:ext cx="6095630" cy="0"/>
            </a:xfrm>
            <a:custGeom>
              <a:avLst/>
              <a:pathLst>
                <a:path w="6095630" h="0">
                  <a:moveTo>
                    <a:pt x="0" y="0"/>
                  </a:moveTo>
                  <a:lnTo>
                    <a:pt x="6095630" y="0"/>
                  </a:lnTo>
                  <a:lnTo>
                    <a:pt x="609563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1543482" y="4875033"/>
              <a:ext cx="6095630" cy="0"/>
            </a:xfrm>
            <a:custGeom>
              <a:avLst/>
              <a:pathLst>
                <a:path w="6095630" h="0">
                  <a:moveTo>
                    <a:pt x="0" y="0"/>
                  </a:moveTo>
                  <a:lnTo>
                    <a:pt x="6095630" y="0"/>
                  </a:lnTo>
                  <a:lnTo>
                    <a:pt x="609563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1543482" y="4502780"/>
              <a:ext cx="6095630" cy="0"/>
            </a:xfrm>
            <a:custGeom>
              <a:avLst/>
              <a:pathLst>
                <a:path w="6095630" h="0">
                  <a:moveTo>
                    <a:pt x="0" y="0"/>
                  </a:moveTo>
                  <a:lnTo>
                    <a:pt x="6095630" y="0"/>
                  </a:lnTo>
                  <a:lnTo>
                    <a:pt x="609563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1543482" y="4130528"/>
              <a:ext cx="6095630" cy="0"/>
            </a:xfrm>
            <a:custGeom>
              <a:avLst/>
              <a:pathLst>
                <a:path w="6095630" h="0">
                  <a:moveTo>
                    <a:pt x="0" y="0"/>
                  </a:moveTo>
                  <a:lnTo>
                    <a:pt x="6095630" y="0"/>
                  </a:lnTo>
                  <a:lnTo>
                    <a:pt x="609563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1988748" y="4175198"/>
              <a:ext cx="323830" cy="1444338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3893633" y="4182644"/>
              <a:ext cx="323830" cy="1436893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5798517" y="4169615"/>
              <a:ext cx="323830" cy="1449922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2345914" y="5332903"/>
              <a:ext cx="323830" cy="286634"/>
            </a:xfrm>
            <a:prstGeom prst="rect">
              <a:avLst/>
            </a:prstGeom>
            <a:solidFill>
              <a:srgbClr val="D55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4250799" y="5331042"/>
              <a:ext cx="323830" cy="288495"/>
            </a:xfrm>
            <a:prstGeom prst="rect">
              <a:avLst/>
            </a:prstGeom>
            <a:solidFill>
              <a:srgbClr val="D55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6155683" y="5345932"/>
              <a:ext cx="323830" cy="273605"/>
            </a:xfrm>
            <a:prstGeom prst="rect">
              <a:avLst/>
            </a:prstGeom>
            <a:solidFill>
              <a:srgbClr val="D55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2703080" y="5491110"/>
              <a:ext cx="323830" cy="128427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4607965" y="5492972"/>
              <a:ext cx="323830" cy="126565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6512849" y="5491110"/>
              <a:ext cx="323830" cy="128427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3060246" y="5537642"/>
              <a:ext cx="323830" cy="81895"/>
            </a:xfrm>
            <a:prstGeom prst="rect">
              <a:avLst/>
            </a:prstGeom>
            <a:solidFill>
              <a:srgbClr val="CC79A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4965130" y="5539503"/>
              <a:ext cx="323830" cy="80034"/>
            </a:xfrm>
            <a:prstGeom prst="rect">
              <a:avLst/>
            </a:prstGeom>
            <a:solidFill>
              <a:srgbClr val="CC79A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6870015" y="5539503"/>
              <a:ext cx="323830" cy="80034"/>
            </a:xfrm>
            <a:prstGeom prst="rect">
              <a:avLst/>
            </a:prstGeom>
            <a:solidFill>
              <a:srgbClr val="CC79A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tx156"/>
            <p:cNvSpPr/>
            <p:nvPr/>
          </p:nvSpPr>
          <p:spPr>
            <a:xfrm>
              <a:off x="2102475" y="4088276"/>
              <a:ext cx="96377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78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4007359" y="4095721"/>
              <a:ext cx="96377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77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5912244" y="4082692"/>
              <a:ext cx="96377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78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2459641" y="5245980"/>
              <a:ext cx="96377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4364525" y="5244119"/>
              <a:ext cx="96377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6269409" y="5259009"/>
              <a:ext cx="96377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2840901" y="5404188"/>
              <a:ext cx="48188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4745785" y="5406049"/>
              <a:ext cx="48188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6650670" y="5404188"/>
              <a:ext cx="48188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3198067" y="5450719"/>
              <a:ext cx="48188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5102951" y="5452580"/>
              <a:ext cx="48188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7007836" y="5452580"/>
              <a:ext cx="48188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68" name="pl168"/>
            <p:cNvSpPr/>
            <p:nvPr/>
          </p:nvSpPr>
          <p:spPr>
            <a:xfrm>
              <a:off x="1543482" y="3995624"/>
              <a:ext cx="0" cy="1623913"/>
            </a:xfrm>
            <a:custGeom>
              <a:avLst/>
              <a:pathLst>
                <a:path w="0" h="1623913">
                  <a:moveTo>
                    <a:pt x="0" y="1623913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tx169"/>
            <p:cNvSpPr/>
            <p:nvPr/>
          </p:nvSpPr>
          <p:spPr>
            <a:xfrm>
              <a:off x="1441490" y="5586848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1390740" y="5214595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1390740" y="4842343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1390740" y="4470091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1390740" y="4097838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80</a:t>
              </a:r>
            </a:p>
          </p:txBody>
        </p:sp>
        <p:sp>
          <p:nvSpPr>
            <p:cNvPr id="174" name="pl174"/>
            <p:cNvSpPr/>
            <p:nvPr/>
          </p:nvSpPr>
          <p:spPr>
            <a:xfrm>
              <a:off x="1515013" y="5619537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1515013" y="524728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1515013" y="4875033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1515013" y="4502780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1515013" y="4130528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1543482" y="5619537"/>
              <a:ext cx="6095630" cy="0"/>
            </a:xfrm>
            <a:custGeom>
              <a:avLst/>
              <a:pathLst>
                <a:path w="6095630" h="0">
                  <a:moveTo>
                    <a:pt x="0" y="0"/>
                  </a:moveTo>
                  <a:lnTo>
                    <a:pt x="609563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2686412" y="561953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4591297" y="561953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6496181" y="561953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tx183"/>
            <p:cNvSpPr/>
            <p:nvPr/>
          </p:nvSpPr>
          <p:spPr>
            <a:xfrm>
              <a:off x="2635663" y="5670780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4515173" y="5670780"/>
              <a:ext cx="15224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6420057" y="5670780"/>
              <a:ext cx="15224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4213375" y="5783739"/>
              <a:ext cx="75584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SDM threshold</a:t>
              </a:r>
            </a:p>
          </p:txBody>
        </p:sp>
        <p:sp>
          <p:nvSpPr>
            <p:cNvPr id="187" name="tx187"/>
            <p:cNvSpPr/>
            <p:nvPr/>
          </p:nvSpPr>
          <p:spPr>
            <a:xfrm rot="-5400000">
              <a:off x="-208849" y="4766661"/>
              <a:ext cx="1206916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Deviance explained (%)</a:t>
              </a:r>
            </a:p>
          </p:txBody>
        </p:sp>
        <p:sp>
          <p:nvSpPr>
            <p:cNvPr id="188" name="rc188"/>
            <p:cNvSpPr/>
            <p:nvPr/>
          </p:nvSpPr>
          <p:spPr>
            <a:xfrm>
              <a:off x="7752985" y="4472288"/>
              <a:ext cx="1403085" cy="6705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7809921" y="4529225"/>
              <a:ext cx="113872" cy="1391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7817285" y="4536588"/>
              <a:ext cx="99145" cy="124450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7809921" y="4668403"/>
              <a:ext cx="113872" cy="1391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7817285" y="4675766"/>
              <a:ext cx="99145" cy="124450"/>
            </a:xfrm>
            <a:prstGeom prst="rect">
              <a:avLst/>
            </a:prstGeom>
            <a:solidFill>
              <a:srgbClr val="D55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7809921" y="4807581"/>
              <a:ext cx="113872" cy="1391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7817285" y="4814944"/>
              <a:ext cx="99145" cy="124450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7809921" y="4946759"/>
              <a:ext cx="113872" cy="1391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7817285" y="4954122"/>
              <a:ext cx="99145" cy="124450"/>
            </a:xfrm>
            <a:prstGeom prst="rect">
              <a:avLst/>
            </a:prstGeom>
            <a:solidFill>
              <a:srgbClr val="CC79A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tx197"/>
            <p:cNvSpPr/>
            <p:nvPr/>
          </p:nvSpPr>
          <p:spPr>
            <a:xfrm>
              <a:off x="7980731" y="4562420"/>
              <a:ext cx="57433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Survey effort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7980731" y="4701599"/>
              <a:ext cx="103345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Climate change (15-yr)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7980731" y="4840777"/>
              <a:ext cx="111840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Annual climate variability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7980731" y="4979955"/>
              <a:ext cx="104314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Climate change x effort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1543482" y="3838561"/>
              <a:ext cx="214920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Drop-term contribution to explained deviance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355318" y="3814736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353689" y="252469"/>
              <a:ext cx="7288499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Survey effort dominates, but accumulated climate change independently raises new-record hazard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2026-07-26T10:33:19Z</dcterms:modified>
  <cp:category/>
</cp:coreProperties>
</file>