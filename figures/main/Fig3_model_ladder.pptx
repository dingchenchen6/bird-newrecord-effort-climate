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82880" y="182880"/>
            <a:ext cx="8046720" cy="4206240"/>
            <a:chOff x="182880" y="182880"/>
            <a:chExt cx="8046720" cy="4206240"/>
          </a:xfrm>
        </p:grpSpPr>
        <p:sp>
          <p:nvSpPr>
            <p:cNvPr id="3" name="rc3"/>
            <p:cNvSpPr/>
            <p:nvPr/>
          </p:nvSpPr>
          <p:spPr>
            <a:xfrm>
              <a:off x="182880" y="182880"/>
              <a:ext cx="8046720" cy="42062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82880" y="182880"/>
              <a:ext cx="8046720" cy="42062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1086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47366" y="1060479"/>
              <a:ext cx="7481012" cy="286272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647366" y="3923208"/>
              <a:ext cx="7481012" cy="0"/>
            </a:xfrm>
            <a:custGeom>
              <a:avLst/>
              <a:pathLst>
                <a:path w="7481012" h="0">
                  <a:moveTo>
                    <a:pt x="0" y="0"/>
                  </a:moveTo>
                  <a:lnTo>
                    <a:pt x="7481012" y="0"/>
                  </a:lnTo>
                  <a:lnTo>
                    <a:pt x="748101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647366" y="3367850"/>
              <a:ext cx="7481012" cy="0"/>
            </a:xfrm>
            <a:custGeom>
              <a:avLst/>
              <a:pathLst>
                <a:path w="7481012" h="0">
                  <a:moveTo>
                    <a:pt x="0" y="0"/>
                  </a:moveTo>
                  <a:lnTo>
                    <a:pt x="7481012" y="0"/>
                  </a:lnTo>
                  <a:lnTo>
                    <a:pt x="748101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647366" y="2812492"/>
              <a:ext cx="7481012" cy="0"/>
            </a:xfrm>
            <a:custGeom>
              <a:avLst/>
              <a:pathLst>
                <a:path w="7481012" h="0">
                  <a:moveTo>
                    <a:pt x="0" y="0"/>
                  </a:moveTo>
                  <a:lnTo>
                    <a:pt x="7481012" y="0"/>
                  </a:lnTo>
                  <a:lnTo>
                    <a:pt x="748101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647366" y="2257134"/>
              <a:ext cx="7481012" cy="0"/>
            </a:xfrm>
            <a:custGeom>
              <a:avLst/>
              <a:pathLst>
                <a:path w="7481012" h="0">
                  <a:moveTo>
                    <a:pt x="0" y="0"/>
                  </a:moveTo>
                  <a:lnTo>
                    <a:pt x="7481012" y="0"/>
                  </a:lnTo>
                  <a:lnTo>
                    <a:pt x="748101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47366" y="1701775"/>
              <a:ext cx="7481012" cy="0"/>
            </a:xfrm>
            <a:custGeom>
              <a:avLst/>
              <a:pathLst>
                <a:path w="7481012" h="0">
                  <a:moveTo>
                    <a:pt x="0" y="0"/>
                  </a:moveTo>
                  <a:lnTo>
                    <a:pt x="7481012" y="0"/>
                  </a:lnTo>
                  <a:lnTo>
                    <a:pt x="748101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47366" y="1146417"/>
              <a:ext cx="7481012" cy="0"/>
            </a:xfrm>
            <a:custGeom>
              <a:avLst/>
              <a:pathLst>
                <a:path w="7481012" h="0">
                  <a:moveTo>
                    <a:pt x="0" y="0"/>
                  </a:moveTo>
                  <a:lnTo>
                    <a:pt x="7481012" y="0"/>
                  </a:lnTo>
                  <a:lnTo>
                    <a:pt x="748101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907124" y="1405414"/>
              <a:ext cx="228586" cy="2517794"/>
            </a:xfrm>
            <a:prstGeom prst="rect">
              <a:avLst/>
            </a:prstGeom>
            <a:solidFill>
              <a:srgbClr val="0072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1946153" y="3314842"/>
              <a:ext cx="228586" cy="608366"/>
            </a:xfrm>
            <a:prstGeom prst="rect">
              <a:avLst/>
            </a:prstGeom>
            <a:solidFill>
              <a:srgbClr val="0072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2985183" y="1919259"/>
              <a:ext cx="228586" cy="2003949"/>
            </a:xfrm>
            <a:prstGeom prst="rect">
              <a:avLst/>
            </a:prstGeom>
            <a:solidFill>
              <a:srgbClr val="0072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024212" y="3716836"/>
              <a:ext cx="228586" cy="206372"/>
            </a:xfrm>
            <a:prstGeom prst="rect">
              <a:avLst/>
            </a:prstGeom>
            <a:solidFill>
              <a:srgbClr val="0072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5063242" y="3787300"/>
              <a:ext cx="228586" cy="135908"/>
            </a:xfrm>
            <a:prstGeom prst="rect">
              <a:avLst/>
            </a:prstGeom>
            <a:solidFill>
              <a:srgbClr val="0072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6102271" y="3782266"/>
              <a:ext cx="228586" cy="140941"/>
            </a:xfrm>
            <a:prstGeom prst="rect">
              <a:avLst/>
            </a:prstGeom>
            <a:solidFill>
              <a:srgbClr val="0072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7141301" y="3923208"/>
              <a:ext cx="228586" cy="0"/>
            </a:xfrm>
            <a:prstGeom prst="rect">
              <a:avLst/>
            </a:prstGeom>
            <a:solidFill>
              <a:srgbClr val="0072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1156491" y="1320727"/>
              <a:ext cx="228586" cy="2602481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2195520" y="3253687"/>
              <a:ext cx="228586" cy="669521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3234550" y="1851833"/>
              <a:ext cx="228586" cy="2071375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4273580" y="3665773"/>
              <a:ext cx="228586" cy="257435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312609" y="3733664"/>
              <a:ext cx="228586" cy="189544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6351639" y="3729008"/>
              <a:ext cx="228586" cy="194199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7390668" y="3923208"/>
              <a:ext cx="228586" cy="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1405858" y="1325262"/>
              <a:ext cx="228586" cy="2597945"/>
            </a:xfrm>
            <a:prstGeom prst="rect">
              <a:avLst/>
            </a:prstGeom>
            <a:solidFill>
              <a:srgbClr val="009E7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2444888" y="3283249"/>
              <a:ext cx="228586" cy="639959"/>
            </a:xfrm>
            <a:prstGeom prst="rect">
              <a:avLst/>
            </a:prstGeom>
            <a:solidFill>
              <a:srgbClr val="009E7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3483917" y="1838709"/>
              <a:ext cx="228586" cy="2084499"/>
            </a:xfrm>
            <a:prstGeom prst="rect">
              <a:avLst/>
            </a:prstGeom>
            <a:solidFill>
              <a:srgbClr val="009E7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522947" y="3677517"/>
              <a:ext cx="228586" cy="245690"/>
            </a:xfrm>
            <a:prstGeom prst="rect">
              <a:avLst/>
            </a:prstGeom>
            <a:solidFill>
              <a:srgbClr val="009E7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5561976" y="3746012"/>
              <a:ext cx="228586" cy="177196"/>
            </a:xfrm>
            <a:prstGeom prst="rect">
              <a:avLst/>
            </a:prstGeom>
            <a:solidFill>
              <a:srgbClr val="009E7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6601006" y="3741791"/>
              <a:ext cx="228586" cy="181416"/>
            </a:xfrm>
            <a:prstGeom prst="rect">
              <a:avLst/>
            </a:prstGeom>
            <a:solidFill>
              <a:srgbClr val="009E7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7640035" y="3923208"/>
              <a:ext cx="228586" cy="0"/>
            </a:xfrm>
            <a:prstGeom prst="rect">
              <a:avLst/>
            </a:prstGeom>
            <a:solidFill>
              <a:srgbClr val="009E7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tx33"/>
            <p:cNvSpPr/>
            <p:nvPr/>
          </p:nvSpPr>
          <p:spPr>
            <a:xfrm>
              <a:off x="922068" y="1328632"/>
              <a:ext cx="198699" cy="56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25" i="0" b="0">
                  <a:solidFill>
                    <a:srgbClr val="404040">
                      <a:alpha val="100000"/>
                    </a:srgbClr>
                  </a:solidFill>
                  <a:latin typeface="Arial"/>
                  <a:cs typeface="Arial"/>
                </a:rPr>
                <a:t>226.7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1983180" y="3238059"/>
              <a:ext cx="154533" cy="56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25" i="0" b="0">
                  <a:solidFill>
                    <a:srgbClr val="404040">
                      <a:alpha val="100000"/>
                    </a:srgbClr>
                  </a:solidFill>
                  <a:latin typeface="Arial"/>
                  <a:cs typeface="Arial"/>
                </a:rPr>
                <a:t>54.8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3000127" y="1842477"/>
              <a:ext cx="198699" cy="56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25" i="0" b="0">
                  <a:solidFill>
                    <a:srgbClr val="404040">
                      <a:alpha val="100000"/>
                    </a:srgbClr>
                  </a:solidFill>
                  <a:latin typeface="Arial"/>
                  <a:cs typeface="Arial"/>
                </a:rPr>
                <a:t>180.4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4061239" y="3640054"/>
              <a:ext cx="154533" cy="56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25" i="0" b="0">
                  <a:solidFill>
                    <a:srgbClr val="404040">
                      <a:alpha val="100000"/>
                    </a:srgbClr>
                  </a:solidFill>
                  <a:latin typeface="Arial"/>
                  <a:cs typeface="Arial"/>
                </a:rPr>
                <a:t>18.6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100268" y="3710517"/>
              <a:ext cx="154533" cy="56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25" i="0" b="0">
                  <a:solidFill>
                    <a:srgbClr val="404040">
                      <a:alpha val="100000"/>
                    </a:srgbClr>
                  </a:solidFill>
                  <a:latin typeface="Arial"/>
                  <a:cs typeface="Arial"/>
                </a:rPr>
                <a:t>12.2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139298" y="3705484"/>
              <a:ext cx="154533" cy="56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25" i="0" b="0">
                  <a:solidFill>
                    <a:srgbClr val="404040">
                      <a:alpha val="100000"/>
                    </a:srgbClr>
                  </a:solidFill>
                  <a:latin typeface="Arial"/>
                  <a:cs typeface="Arial"/>
                </a:rPr>
                <a:t>12.7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7200410" y="3846426"/>
              <a:ext cx="110368" cy="56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25" i="0" b="0">
                  <a:solidFill>
                    <a:srgbClr val="404040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1171435" y="1243945"/>
              <a:ext cx="198699" cy="56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25" i="0" b="0">
                  <a:solidFill>
                    <a:srgbClr val="404040">
                      <a:alpha val="100000"/>
                    </a:srgbClr>
                  </a:solidFill>
                  <a:latin typeface="Arial"/>
                  <a:cs typeface="Arial"/>
                </a:rPr>
                <a:t>234.3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2232547" y="3176905"/>
              <a:ext cx="154533" cy="56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25" i="0" b="0">
                  <a:solidFill>
                    <a:srgbClr val="404040">
                      <a:alpha val="100000"/>
                    </a:srgbClr>
                  </a:solidFill>
                  <a:latin typeface="Arial"/>
                  <a:cs typeface="Arial"/>
                </a:rPr>
                <a:t>60.3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3249494" y="1775051"/>
              <a:ext cx="198699" cy="56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25" i="0" b="0">
                  <a:solidFill>
                    <a:srgbClr val="404040">
                      <a:alpha val="100000"/>
                    </a:srgbClr>
                  </a:solidFill>
                  <a:latin typeface="Arial"/>
                  <a:cs typeface="Arial"/>
                </a:rPr>
                <a:t>186.5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4310606" y="3588991"/>
              <a:ext cx="154533" cy="56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25" i="0" b="0">
                  <a:solidFill>
                    <a:srgbClr val="404040">
                      <a:alpha val="100000"/>
                    </a:srgbClr>
                  </a:solidFill>
                  <a:latin typeface="Arial"/>
                  <a:cs typeface="Arial"/>
                </a:rPr>
                <a:t>23.2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5349635" y="3656881"/>
              <a:ext cx="154533" cy="56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25" i="0" b="0">
                  <a:solidFill>
                    <a:srgbClr val="404040">
                      <a:alpha val="100000"/>
                    </a:srgbClr>
                  </a:solidFill>
                  <a:latin typeface="Arial"/>
                  <a:cs typeface="Arial"/>
                </a:rPr>
                <a:t>17.1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6388665" y="3652226"/>
              <a:ext cx="154533" cy="56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25" i="0" b="0">
                  <a:solidFill>
                    <a:srgbClr val="404040">
                      <a:alpha val="100000"/>
                    </a:srgbClr>
                  </a:solidFill>
                  <a:latin typeface="Arial"/>
                  <a:cs typeface="Arial"/>
                </a:rPr>
                <a:t>17.5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7449777" y="3846426"/>
              <a:ext cx="110368" cy="56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25" i="0" b="0">
                  <a:solidFill>
                    <a:srgbClr val="404040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1420802" y="1248480"/>
              <a:ext cx="198699" cy="56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25" i="0" b="0">
                  <a:solidFill>
                    <a:srgbClr val="404040">
                      <a:alpha val="100000"/>
                    </a:srgbClr>
                  </a:solidFill>
                  <a:latin typeface="Arial"/>
                  <a:cs typeface="Arial"/>
                </a:rPr>
                <a:t>233.9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2481914" y="3206467"/>
              <a:ext cx="154533" cy="56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25" i="0" b="0">
                  <a:solidFill>
                    <a:srgbClr val="404040">
                      <a:alpha val="100000"/>
                    </a:srgbClr>
                  </a:solidFill>
                  <a:latin typeface="Arial"/>
                  <a:cs typeface="Arial"/>
                </a:rPr>
                <a:t>57.6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3498861" y="1761926"/>
              <a:ext cx="198699" cy="56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25" i="0" b="0">
                  <a:solidFill>
                    <a:srgbClr val="404040">
                      <a:alpha val="100000"/>
                    </a:srgbClr>
                  </a:solidFill>
                  <a:latin typeface="Arial"/>
                  <a:cs typeface="Arial"/>
                </a:rPr>
                <a:t>187.7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4559973" y="3600735"/>
              <a:ext cx="154533" cy="56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25" i="0" b="0">
                  <a:solidFill>
                    <a:srgbClr val="404040">
                      <a:alpha val="100000"/>
                    </a:srgbClr>
                  </a:solidFill>
                  <a:latin typeface="Arial"/>
                  <a:cs typeface="Arial"/>
                </a:rPr>
                <a:t>22.1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5599003" y="3669230"/>
              <a:ext cx="154533" cy="56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25" i="0" b="0">
                  <a:solidFill>
                    <a:srgbClr val="404040">
                      <a:alpha val="100000"/>
                    </a:srgbClr>
                  </a:solidFill>
                  <a:latin typeface="Arial"/>
                  <a:cs typeface="Arial"/>
                </a:rPr>
                <a:t>16.0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6638032" y="3665009"/>
              <a:ext cx="154533" cy="56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25" i="0" b="0">
                  <a:solidFill>
                    <a:srgbClr val="404040">
                      <a:alpha val="100000"/>
                    </a:srgbClr>
                  </a:solidFill>
                  <a:latin typeface="Arial"/>
                  <a:cs typeface="Arial"/>
                </a:rPr>
                <a:t>16.3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7699144" y="3846426"/>
              <a:ext cx="110368" cy="56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25" i="0" b="0">
                  <a:solidFill>
                    <a:srgbClr val="404040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54" name="rc54"/>
            <p:cNvSpPr/>
            <p:nvPr/>
          </p:nvSpPr>
          <p:spPr>
            <a:xfrm>
              <a:off x="4907388" y="1060479"/>
              <a:ext cx="1039029" cy="2862729"/>
            </a:xfrm>
            <a:prstGeom prst="rect">
              <a:avLst/>
            </a:prstGeom>
            <a:solidFill>
              <a:srgbClr val="F0E442">
                <a:alpha val="16078"/>
              </a:srgbClr>
            </a:solidFill>
          </p:spPr>
          <p:txBody>
            <a:bodyPr/>
            <a:lstStyle/>
            <a:p/>
          </p:txBody>
        </p:sp>
        <p:sp>
          <p:nvSpPr>
            <p:cNvPr id="55" name="tx55"/>
            <p:cNvSpPr/>
            <p:nvPr/>
          </p:nvSpPr>
          <p:spPr>
            <a:xfrm>
              <a:off x="5074767" y="2274785"/>
              <a:ext cx="704270" cy="697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68" i="0" b="1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selected model</a:t>
              </a:r>
            </a:p>
          </p:txBody>
        </p:sp>
        <p:sp>
          <p:nvSpPr>
            <p:cNvPr id="56" name="pl56"/>
            <p:cNvSpPr/>
            <p:nvPr/>
          </p:nvSpPr>
          <p:spPr>
            <a:xfrm>
              <a:off x="647366" y="1060479"/>
              <a:ext cx="0" cy="2862729"/>
            </a:xfrm>
            <a:custGeom>
              <a:avLst/>
              <a:pathLst>
                <a:path w="0" h="2862729">
                  <a:moveTo>
                    <a:pt x="0" y="2862729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tx57"/>
            <p:cNvSpPr/>
            <p:nvPr/>
          </p:nvSpPr>
          <p:spPr>
            <a:xfrm>
              <a:off x="545374" y="3890518"/>
              <a:ext cx="50749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494625" y="3335160"/>
              <a:ext cx="101498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443876" y="2779802"/>
              <a:ext cx="15224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443876" y="2224444"/>
              <a:ext cx="15224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150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443876" y="1669086"/>
              <a:ext cx="15224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443876" y="1113727"/>
              <a:ext cx="15224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250</a:t>
              </a:r>
            </a:p>
          </p:txBody>
        </p:sp>
        <p:sp>
          <p:nvSpPr>
            <p:cNvPr id="63" name="pl63"/>
            <p:cNvSpPr/>
            <p:nvPr/>
          </p:nvSpPr>
          <p:spPr>
            <a:xfrm>
              <a:off x="618898" y="3923208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618898" y="3367850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618898" y="2812492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618898" y="2257134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618898" y="1701775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618898" y="1146417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647366" y="3923208"/>
              <a:ext cx="7481012" cy="0"/>
            </a:xfrm>
            <a:custGeom>
              <a:avLst/>
              <a:pathLst>
                <a:path w="7481012" h="0">
                  <a:moveTo>
                    <a:pt x="0" y="0"/>
                  </a:moveTo>
                  <a:lnTo>
                    <a:pt x="7481012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1270784" y="3923208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2309814" y="3923208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348843" y="3923208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4387873" y="3923208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5426902" y="3923208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6465932" y="3923208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7504961" y="3923208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tx77"/>
            <p:cNvSpPr/>
            <p:nvPr/>
          </p:nvSpPr>
          <p:spPr>
            <a:xfrm rot="-1200000">
              <a:off x="1129430" y="3999376"/>
              <a:ext cx="157276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Null</a:t>
              </a:r>
            </a:p>
          </p:txBody>
        </p:sp>
        <p:sp>
          <p:nvSpPr>
            <p:cNvPr id="78" name="tx78"/>
            <p:cNvSpPr/>
            <p:nvPr/>
          </p:nvSpPr>
          <p:spPr>
            <a:xfrm rot="-1200000">
              <a:off x="2111171" y="4009477"/>
              <a:ext cx="21634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Effort</a:t>
              </a:r>
            </a:p>
          </p:txBody>
        </p:sp>
        <p:sp>
          <p:nvSpPr>
            <p:cNvPr id="79" name="tx79"/>
            <p:cNvSpPr/>
            <p:nvPr/>
          </p:nvSpPr>
          <p:spPr>
            <a:xfrm rot="-1200000">
              <a:off x="2873067" y="4058343"/>
              <a:ext cx="50209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Climate only</a:t>
              </a:r>
            </a:p>
          </p:txBody>
        </p:sp>
        <p:sp>
          <p:nvSpPr>
            <p:cNvPr id="80" name="tx80"/>
            <p:cNvSpPr/>
            <p:nvPr/>
          </p:nvSpPr>
          <p:spPr>
            <a:xfrm rot="-1200000">
              <a:off x="4084141" y="4028007"/>
              <a:ext cx="324703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Additive</a:t>
              </a:r>
            </a:p>
          </p:txBody>
        </p:sp>
        <p:sp>
          <p:nvSpPr>
            <p:cNvPr id="81" name="tx81"/>
            <p:cNvSpPr/>
            <p:nvPr/>
          </p:nvSpPr>
          <p:spPr>
            <a:xfrm rot="-1200000">
              <a:off x="4768439" y="4090556"/>
              <a:ext cx="690463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+ Climate x effort</a:t>
              </a:r>
            </a:p>
          </p:txBody>
        </p:sp>
        <p:sp>
          <p:nvSpPr>
            <p:cNvPr id="82" name="tx82"/>
            <p:cNvSpPr/>
            <p:nvPr/>
          </p:nvSpPr>
          <p:spPr>
            <a:xfrm rot="-1200000">
              <a:off x="5741666" y="4102159"/>
              <a:ext cx="758311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+ Both interactions</a:t>
              </a:r>
            </a:p>
          </p:txBody>
        </p:sp>
        <p:sp>
          <p:nvSpPr>
            <p:cNvPr id="83" name="tx83"/>
            <p:cNvSpPr/>
            <p:nvPr/>
          </p:nvSpPr>
          <p:spPr>
            <a:xfrm rot="-1200000">
              <a:off x="6815371" y="4096044"/>
              <a:ext cx="722558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+ Static mismatch</a:t>
              </a:r>
            </a:p>
          </p:txBody>
        </p:sp>
        <p:sp>
          <p:nvSpPr>
            <p:cNvPr id="84" name="tx84"/>
            <p:cNvSpPr/>
            <p:nvPr/>
          </p:nvSpPr>
          <p:spPr>
            <a:xfrm rot="-5400000">
              <a:off x="282043" y="2951101"/>
              <a:ext cx="69951" cy="1007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D0D0D">
                      <a:alpha val="100000"/>
                    </a:srgbClr>
                  </a:solidFill>
                  <a:latin typeface="Symbol"/>
                  <a:cs typeface="Symbol"/>
                </a:rPr>
                <a:t>Δ</a:t>
              </a:r>
            </a:p>
          </p:txBody>
        </p:sp>
        <p:sp>
          <p:nvSpPr>
            <p:cNvPr id="85" name="tx85"/>
            <p:cNvSpPr/>
            <p:nvPr/>
          </p:nvSpPr>
          <p:spPr>
            <a:xfrm rot="-5400000">
              <a:off x="-183157" y="2415948"/>
              <a:ext cx="1019281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D0D0D">
                      <a:alpha val="100000"/>
                    </a:srgbClr>
                  </a:solidFill>
                  <a:latin typeface="Arial"/>
                  <a:cs typeface="Arial"/>
                </a:rPr>
                <a:t>AIC (0 = best-fitting)</a:t>
              </a:r>
            </a:p>
          </p:txBody>
        </p:sp>
        <p:sp>
          <p:nvSpPr>
            <p:cNvPr id="86" name="rc86"/>
            <p:cNvSpPr/>
            <p:nvPr/>
          </p:nvSpPr>
          <p:spPr>
            <a:xfrm>
              <a:off x="3404833" y="718860"/>
              <a:ext cx="1966079" cy="22774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" name="tx87"/>
            <p:cNvSpPr/>
            <p:nvPr/>
          </p:nvSpPr>
          <p:spPr>
            <a:xfrm>
              <a:off x="3461769" y="796339"/>
              <a:ext cx="71688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SDM threshold</a:t>
              </a:r>
            </a:p>
          </p:txBody>
        </p:sp>
        <p:sp>
          <p:nvSpPr>
            <p:cNvPr id="88" name="rc88"/>
            <p:cNvSpPr/>
            <p:nvPr/>
          </p:nvSpPr>
          <p:spPr>
            <a:xfrm>
              <a:off x="4235595" y="775796"/>
              <a:ext cx="113872" cy="1138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" name="rc89"/>
            <p:cNvSpPr/>
            <p:nvPr/>
          </p:nvSpPr>
          <p:spPr>
            <a:xfrm>
              <a:off x="4242959" y="783160"/>
              <a:ext cx="99145" cy="99145"/>
            </a:xfrm>
            <a:prstGeom prst="rect">
              <a:avLst/>
            </a:prstGeom>
            <a:solidFill>
              <a:srgbClr val="0072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" name="rc90"/>
            <p:cNvSpPr/>
            <p:nvPr/>
          </p:nvSpPr>
          <p:spPr>
            <a:xfrm>
              <a:off x="4576361" y="775796"/>
              <a:ext cx="113872" cy="1138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" name="rc91"/>
            <p:cNvSpPr/>
            <p:nvPr/>
          </p:nvSpPr>
          <p:spPr>
            <a:xfrm>
              <a:off x="4583725" y="783160"/>
              <a:ext cx="99145" cy="99145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" name="rc92"/>
            <p:cNvSpPr/>
            <p:nvPr/>
          </p:nvSpPr>
          <p:spPr>
            <a:xfrm>
              <a:off x="4973637" y="775796"/>
              <a:ext cx="113872" cy="1138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" name="rc93"/>
            <p:cNvSpPr/>
            <p:nvPr/>
          </p:nvSpPr>
          <p:spPr>
            <a:xfrm>
              <a:off x="4981001" y="783160"/>
              <a:ext cx="99145" cy="99145"/>
            </a:xfrm>
            <a:prstGeom prst="rect">
              <a:avLst/>
            </a:prstGeom>
            <a:solidFill>
              <a:srgbClr val="009E7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" name="tx94"/>
            <p:cNvSpPr/>
            <p:nvPr/>
          </p:nvSpPr>
          <p:spPr>
            <a:xfrm>
              <a:off x="4406405" y="796339"/>
              <a:ext cx="11301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4747171" y="796339"/>
              <a:ext cx="16952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5144446" y="796339"/>
              <a:ext cx="16952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647366" y="445210"/>
              <a:ext cx="448220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The climate-change x effort interaction improves fit over the additive model at every threshold.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647366" y="561796"/>
              <a:ext cx="690280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The static climate-mismatch term fits best but is a time-invariant pair-level confounder, not a mechanism; it is retained only as a sensitivity check.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647366" y="258795"/>
              <a:ext cx="1506474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Model selection ladder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2026-07-26T10:33:24Z</dcterms:modified>
  <cp:category/>
</cp:coreProperties>
</file>